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21" autoAdjust="0"/>
    <p:restoredTop sz="94660"/>
  </p:normalViewPr>
  <p:slideViewPr>
    <p:cSldViewPr snapToGrid="0">
      <p:cViewPr>
        <p:scale>
          <a:sx n="107" d="100"/>
          <a:sy n="107" d="100"/>
        </p:scale>
        <p:origin x="6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0B00E7-2438-499B-B38B-3E32F6423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19EFDD-08E7-4B9D-A7D7-821885150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11E41A-6666-4054-9EC4-7CB6B4C5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9A5126-2429-4F37-9156-139A7619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FC75C6-8E44-44D0-9FE1-7392F1BA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39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F738E-E8DB-4568-AF7E-6969F48B6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92C368-424C-4EF9-8097-2C4994691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9B1435-B2B4-45D3-8CDD-812C940E7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E3174D-A77D-4B87-B596-B1DE23FA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D5F0B8-5AAD-49BE-813A-ADD6F70F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23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CED43-FB9C-4FA7-A47E-8824AA605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65476A-953C-4199-8EAD-D228767EB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FE5094-0028-4CAD-888D-BC989CC3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77F819-A6A0-4BD8-B93B-740B16D3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83FA47-8D40-4116-B84D-5E7B7F60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76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E99FFA-0E32-4D68-8FC8-026EC061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3C7099-C8E3-4269-AF37-36A321C73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0107DE-3F88-4420-977A-F4E1A55F9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5EDA74-CDF6-48AD-9319-47D5DA24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C9694F8-6FF7-416C-93F9-20C416FF5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DE944E-3622-421E-86EB-43C7CFEE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467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29E1B2-A6DD-4E32-A31A-5639087CA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92E605-717B-44EF-96B8-D0022ACFE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E2E065-2CB3-43F2-AC86-01B3642B9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015DB59-294F-4286-B6F7-ABC140FB7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252181-17C6-4955-AA15-95D1A08C0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680DB02-5541-4D96-BD1B-D16EB8DEB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CD30E34-6B61-4360-82EC-32B82E6AD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C7ED7B1-4BA5-4C40-897E-E0EC09AB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8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689E1-4868-4C9C-8B36-5680C47D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8D39B2-AE13-4427-8ADD-4ADD003A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645D718-52A0-4309-B58B-68B755EF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5F8ADA-3B6D-4BE9-BCE2-E274F3EF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75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3272032-B48D-4B3A-BB47-C0B70EE5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DEA77C-3C1F-4164-94EC-212D5D07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F900F4-C1BC-420D-95CB-F5289FF3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39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20FF3-9767-4C29-96EF-AF7BD894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8869F3-FF57-4BE6-A7B1-276F74164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AC3930-D786-4762-A1CE-70E365C68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0C7E44-04F5-40C9-8F4A-A7492120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D90A41-13B5-49E9-BCCD-2B3227AE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B9A401E-6A92-4D1F-989E-A1941EB7B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54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66F420-BCBC-4266-AA3F-5CB4C023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9ABB7AD-A51A-4E8F-AC3F-32B30518D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1D165E-287B-4145-893F-8A4C4BBB4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6AF5A1-E3B1-4057-AE29-3A59B189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3BA146-6939-4018-B026-CED1848F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104855-B90A-41D6-8656-7C5B8AB5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976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BC9C55-1119-4AC9-A2A8-A83E2A67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B3DA71-5637-4146-8ADF-1006EA17F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7F61D-27C9-414C-8875-EE080E44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B87C81-1F13-4CCB-8594-1D4D9CFA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FE1175-C49A-4F26-95FD-63F6772B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03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A89AE3B-7DC1-4730-98E7-5D7D3B512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4504BB-4EAE-4285-8E33-ADA640834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B6FBF9-1CBE-4752-8D93-BF5CBA14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A874F0-479A-4F2A-8EFB-B783617E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07CE7A-1F52-4531-828B-8FFAE1F7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4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3FDE8F3-E970-4641-89B9-C7A19B2A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E9016D-3F5D-43E8-B1C7-B90845708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F9B17D-0272-4519-B62A-7DADC005FF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B9758-4519-47D1-A8BB-8492636F1346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AF7303-3730-4ABB-9AF9-C11CE771F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5E0AD4-32AA-40FC-91E9-734C8F1EA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D9B00-F81F-4EB5-B71A-2E9DFC8010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49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2D7AF0-1EFA-4334-8FCC-C96AEB3F348F}"/>
              </a:ext>
            </a:extLst>
          </p:cNvPr>
          <p:cNvSpPr/>
          <p:nvPr/>
        </p:nvSpPr>
        <p:spPr>
          <a:xfrm>
            <a:off x="2332626" y="1705070"/>
            <a:ext cx="1854995" cy="30777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Splicing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17F73C0-3E4D-4691-9099-F29B34FF33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44175" b="72888"/>
          <a:stretch/>
        </p:blipFill>
        <p:spPr>
          <a:xfrm>
            <a:off x="3110084" y="2544929"/>
            <a:ext cx="643559" cy="1333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EEE19D0-2C04-480D-8195-8CF4A3187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44175" b="72888"/>
          <a:stretch/>
        </p:blipFill>
        <p:spPr>
          <a:xfrm>
            <a:off x="3738734" y="2573504"/>
            <a:ext cx="643559" cy="1333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C20ED0B-D049-487F-A429-04CEBAD0A2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44175" b="72888"/>
          <a:stretch/>
        </p:blipFill>
        <p:spPr>
          <a:xfrm>
            <a:off x="5005559" y="2621129"/>
            <a:ext cx="643559" cy="1333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6AA7E3F-04EB-4659-B300-100D535517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44175" b="72888"/>
          <a:stretch/>
        </p:blipFill>
        <p:spPr>
          <a:xfrm>
            <a:off x="4376909" y="2592554"/>
            <a:ext cx="643559" cy="1333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35B6831E-FDE0-4176-B539-E6413D0AE6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44175" b="72888"/>
          <a:stretch/>
        </p:blipFill>
        <p:spPr>
          <a:xfrm>
            <a:off x="5643734" y="2649704"/>
            <a:ext cx="643559" cy="133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4448A53-3539-4EAE-AFB8-18EF7F4358EF}"/>
              </a:ext>
            </a:extLst>
          </p:cNvPr>
          <p:cNvSpPr/>
          <p:nvPr/>
        </p:nvSpPr>
        <p:spPr>
          <a:xfrm>
            <a:off x="3395834" y="2459203"/>
            <a:ext cx="352425" cy="295275"/>
          </a:xfrm>
          <a:prstGeom prst="rect">
            <a:avLst/>
          </a:prstGeom>
          <a:solidFill>
            <a:srgbClr val="FFFF00">
              <a:alpha val="30196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A4EA7F-8A0F-47DD-9FEC-EA396B970ADD}"/>
              </a:ext>
            </a:extLst>
          </p:cNvPr>
          <p:cNvSpPr/>
          <p:nvPr/>
        </p:nvSpPr>
        <p:spPr>
          <a:xfrm>
            <a:off x="4110209" y="2459203"/>
            <a:ext cx="361950" cy="295275"/>
          </a:xfrm>
          <a:prstGeom prst="rect">
            <a:avLst/>
          </a:prstGeom>
          <a:solidFill>
            <a:srgbClr val="CC99FF">
              <a:alpha val="30196"/>
            </a:srgbClr>
          </a:solidFill>
          <a:ln w="6350">
            <a:solidFill>
              <a:srgbClr val="000000">
                <a:alpha val="3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EC4329-76D5-447A-8F56-53CC36989E49}"/>
              </a:ext>
            </a:extLst>
          </p:cNvPr>
          <p:cNvSpPr/>
          <p:nvPr/>
        </p:nvSpPr>
        <p:spPr>
          <a:xfrm>
            <a:off x="5024609" y="2516353"/>
            <a:ext cx="333375" cy="295275"/>
          </a:xfrm>
          <a:prstGeom prst="rect">
            <a:avLst/>
          </a:prstGeom>
          <a:solidFill>
            <a:srgbClr val="C00000">
              <a:alpha val="30196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2DCC8B-C0A2-442F-8D80-5A06F229384A}"/>
              </a:ext>
            </a:extLst>
          </p:cNvPr>
          <p:cNvSpPr/>
          <p:nvPr/>
        </p:nvSpPr>
        <p:spPr>
          <a:xfrm>
            <a:off x="5777084" y="2516353"/>
            <a:ext cx="323850" cy="295275"/>
          </a:xfrm>
          <a:prstGeom prst="rect">
            <a:avLst/>
          </a:prstGeom>
          <a:solidFill>
            <a:srgbClr val="548235">
              <a:alpha val="30196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4D00A1-A68E-470F-A82B-A1666FA448B1}"/>
              </a:ext>
            </a:extLst>
          </p:cNvPr>
          <p:cNvSpPr/>
          <p:nvPr/>
        </p:nvSpPr>
        <p:spPr>
          <a:xfrm>
            <a:off x="3600074" y="3203502"/>
            <a:ext cx="352425" cy="142875"/>
          </a:xfrm>
          <a:prstGeom prst="rect">
            <a:avLst/>
          </a:prstGeom>
          <a:solidFill>
            <a:srgbClr val="FFFF00">
              <a:alpha val="30196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F75A1E-6AB0-4A54-9414-DFCB103E052B}"/>
              </a:ext>
            </a:extLst>
          </p:cNvPr>
          <p:cNvSpPr/>
          <p:nvPr/>
        </p:nvSpPr>
        <p:spPr>
          <a:xfrm>
            <a:off x="4181100" y="3203502"/>
            <a:ext cx="285750" cy="142875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D7ABAA-1236-437F-A29A-C5B97D666CE6}"/>
              </a:ext>
            </a:extLst>
          </p:cNvPr>
          <p:cNvSpPr/>
          <p:nvPr/>
        </p:nvSpPr>
        <p:spPr>
          <a:xfrm>
            <a:off x="4704975" y="3193977"/>
            <a:ext cx="304800" cy="161925"/>
          </a:xfrm>
          <a:prstGeom prst="rect">
            <a:avLst/>
          </a:prstGeom>
          <a:solidFill>
            <a:srgbClr val="C00000">
              <a:alpha val="30196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D3B2A5-1332-49CE-80EB-CE82DB01E90A}"/>
              </a:ext>
            </a:extLst>
          </p:cNvPr>
          <p:cNvSpPr/>
          <p:nvPr/>
        </p:nvSpPr>
        <p:spPr>
          <a:xfrm>
            <a:off x="5228849" y="3195410"/>
            <a:ext cx="485775" cy="160239"/>
          </a:xfrm>
          <a:prstGeom prst="rect">
            <a:avLst/>
          </a:prstGeom>
          <a:solidFill>
            <a:srgbClr val="548235">
              <a:alpha val="30196"/>
            </a:srgb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49D5881-080B-4A26-8D7E-391A18C853FC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952499" y="3274940"/>
            <a:ext cx="22860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E6CB5CB-9FAF-4AAA-8DBA-83C5834B279C}"/>
              </a:ext>
            </a:extLst>
          </p:cNvPr>
          <p:cNvSpPr/>
          <p:nvPr/>
        </p:nvSpPr>
        <p:spPr>
          <a:xfrm>
            <a:off x="2930899" y="4001283"/>
            <a:ext cx="304800" cy="142875"/>
          </a:xfrm>
          <a:prstGeom prst="rect">
            <a:avLst/>
          </a:prstGeom>
          <a:solidFill>
            <a:srgbClr val="FFFF00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054C0A-9EC9-4E33-B0D4-9761745A5707}"/>
              </a:ext>
            </a:extLst>
          </p:cNvPr>
          <p:cNvSpPr/>
          <p:nvPr/>
        </p:nvSpPr>
        <p:spPr>
          <a:xfrm>
            <a:off x="3235700" y="4001283"/>
            <a:ext cx="400050" cy="142875"/>
          </a:xfrm>
          <a:prstGeom prst="rect">
            <a:avLst/>
          </a:prstGeom>
          <a:solidFill>
            <a:srgbClr val="CC99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205E4F-562E-45AB-820C-B117FDE809CE}"/>
              </a:ext>
            </a:extLst>
          </p:cNvPr>
          <p:cNvSpPr/>
          <p:nvPr/>
        </p:nvSpPr>
        <p:spPr>
          <a:xfrm>
            <a:off x="3638154" y="4001283"/>
            <a:ext cx="375496" cy="142875"/>
          </a:xfrm>
          <a:prstGeom prst="rect">
            <a:avLst/>
          </a:prstGeom>
          <a:solidFill>
            <a:srgbClr val="C00000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075C9C-9B6F-43F5-8947-5502E0814D19}"/>
              </a:ext>
            </a:extLst>
          </p:cNvPr>
          <p:cNvSpPr/>
          <p:nvPr/>
        </p:nvSpPr>
        <p:spPr>
          <a:xfrm>
            <a:off x="4014929" y="4001283"/>
            <a:ext cx="302933" cy="142875"/>
          </a:xfrm>
          <a:prstGeom prst="rect">
            <a:avLst/>
          </a:prstGeom>
          <a:solidFill>
            <a:srgbClr val="548235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43BEF7-C520-438E-AD27-50931B6FF93C}"/>
              </a:ext>
            </a:extLst>
          </p:cNvPr>
          <p:cNvSpPr/>
          <p:nvPr/>
        </p:nvSpPr>
        <p:spPr>
          <a:xfrm>
            <a:off x="4425443" y="3996018"/>
            <a:ext cx="252580" cy="142875"/>
          </a:xfrm>
          <a:prstGeom prst="rect">
            <a:avLst/>
          </a:prstGeom>
          <a:solidFill>
            <a:srgbClr val="FFFF00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0D890F-2795-4A68-9C59-2E717B22402A}"/>
              </a:ext>
            </a:extLst>
          </p:cNvPr>
          <p:cNvSpPr/>
          <p:nvPr/>
        </p:nvSpPr>
        <p:spPr>
          <a:xfrm>
            <a:off x="4687223" y="3996018"/>
            <a:ext cx="307672" cy="142875"/>
          </a:xfrm>
          <a:prstGeom prst="rect">
            <a:avLst/>
          </a:prstGeom>
          <a:solidFill>
            <a:srgbClr val="C00000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632148-96BE-4279-A7F5-068B86B52A58}"/>
              </a:ext>
            </a:extLst>
          </p:cNvPr>
          <p:cNvSpPr/>
          <p:nvPr/>
        </p:nvSpPr>
        <p:spPr>
          <a:xfrm>
            <a:off x="4993181" y="3996018"/>
            <a:ext cx="322414" cy="142875"/>
          </a:xfrm>
          <a:prstGeom prst="rect">
            <a:avLst/>
          </a:prstGeom>
          <a:solidFill>
            <a:srgbClr val="548235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F46404-AC4C-4690-9C11-4731621C9438}"/>
              </a:ext>
            </a:extLst>
          </p:cNvPr>
          <p:cNvSpPr/>
          <p:nvPr/>
        </p:nvSpPr>
        <p:spPr>
          <a:xfrm>
            <a:off x="5387041" y="3991468"/>
            <a:ext cx="303508" cy="142875"/>
          </a:xfrm>
          <a:prstGeom prst="rect">
            <a:avLst/>
          </a:prstGeom>
          <a:solidFill>
            <a:srgbClr val="CC99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82AF4C-F10F-44AE-8C6C-792EEB6A0373}"/>
              </a:ext>
            </a:extLst>
          </p:cNvPr>
          <p:cNvSpPr/>
          <p:nvPr/>
        </p:nvSpPr>
        <p:spPr>
          <a:xfrm>
            <a:off x="5685343" y="3991468"/>
            <a:ext cx="265934" cy="142875"/>
          </a:xfrm>
          <a:prstGeom prst="rect">
            <a:avLst/>
          </a:prstGeom>
          <a:solidFill>
            <a:srgbClr val="C00000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EA7B0A-DE3C-4DAA-8660-60CD6DFAFE9B}"/>
              </a:ext>
            </a:extLst>
          </p:cNvPr>
          <p:cNvSpPr/>
          <p:nvPr/>
        </p:nvSpPr>
        <p:spPr>
          <a:xfrm>
            <a:off x="6231187" y="3991469"/>
            <a:ext cx="485775" cy="142875"/>
          </a:xfrm>
          <a:prstGeom prst="rect">
            <a:avLst/>
          </a:prstGeom>
          <a:solidFill>
            <a:srgbClr val="548235">
              <a:alpha val="30196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3621BAC1-5768-4FE2-B867-F96675AE2DFE}"/>
              </a:ext>
            </a:extLst>
          </p:cNvPr>
          <p:cNvCxnSpPr>
            <a:cxnSpLocks/>
          </p:cNvCxnSpPr>
          <p:nvPr/>
        </p:nvCxnSpPr>
        <p:spPr>
          <a:xfrm>
            <a:off x="4476374" y="3272559"/>
            <a:ext cx="228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3F86AE4-E2A3-49AE-B98E-BEA0B8E0000D}"/>
              </a:ext>
            </a:extLst>
          </p:cNvPr>
          <p:cNvCxnSpPr>
            <a:cxnSpLocks/>
          </p:cNvCxnSpPr>
          <p:nvPr/>
        </p:nvCxnSpPr>
        <p:spPr>
          <a:xfrm>
            <a:off x="5000249" y="3272559"/>
            <a:ext cx="228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41A8C44-8776-4E88-AFA0-C7C01EEE19E8}"/>
              </a:ext>
            </a:extLst>
          </p:cNvPr>
          <p:cNvSpPr/>
          <p:nvPr/>
        </p:nvSpPr>
        <p:spPr>
          <a:xfrm>
            <a:off x="5955871" y="3992521"/>
            <a:ext cx="275699" cy="14244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8FAB33A-2596-435D-967F-2B38B1DFBAFE}"/>
              </a:ext>
            </a:extLst>
          </p:cNvPr>
          <p:cNvSpPr txBox="1"/>
          <p:nvPr/>
        </p:nvSpPr>
        <p:spPr>
          <a:xfrm>
            <a:off x="2232935" y="2193962"/>
            <a:ext cx="83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DNA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54CCB6D-8FB1-4124-ACFF-700E00EC1DB7}"/>
              </a:ext>
            </a:extLst>
          </p:cNvPr>
          <p:cNvSpPr txBox="1"/>
          <p:nvPr/>
        </p:nvSpPr>
        <p:spPr>
          <a:xfrm>
            <a:off x="2224554" y="3103834"/>
            <a:ext cx="1546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Pre-mRNA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178D3005-44B5-44C2-85BE-D037760929EA}"/>
              </a:ext>
            </a:extLst>
          </p:cNvPr>
          <p:cNvSpPr txBox="1"/>
          <p:nvPr/>
        </p:nvSpPr>
        <p:spPr>
          <a:xfrm>
            <a:off x="2275302" y="3924405"/>
            <a:ext cx="747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mRNA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E8484D02-10D3-4484-BE2B-7324C1D16ACC}"/>
              </a:ext>
            </a:extLst>
          </p:cNvPr>
          <p:cNvSpPr txBox="1"/>
          <p:nvPr/>
        </p:nvSpPr>
        <p:spPr>
          <a:xfrm>
            <a:off x="3350317" y="2271316"/>
            <a:ext cx="47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339EA4B-A770-4B44-B1DF-37B4C537526B}"/>
              </a:ext>
            </a:extLst>
          </p:cNvPr>
          <p:cNvSpPr txBox="1"/>
          <p:nvPr/>
        </p:nvSpPr>
        <p:spPr>
          <a:xfrm>
            <a:off x="4052976" y="2286151"/>
            <a:ext cx="47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A1AF6C0-3E23-4C67-B2F5-7CF782AD09D4}"/>
              </a:ext>
            </a:extLst>
          </p:cNvPr>
          <p:cNvSpPr txBox="1"/>
          <p:nvPr/>
        </p:nvSpPr>
        <p:spPr>
          <a:xfrm>
            <a:off x="4966027" y="2317170"/>
            <a:ext cx="47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A575160B-F3E8-4261-A59E-B71D5F0ED355}"/>
              </a:ext>
            </a:extLst>
          </p:cNvPr>
          <p:cNvSpPr txBox="1"/>
          <p:nvPr/>
        </p:nvSpPr>
        <p:spPr>
          <a:xfrm>
            <a:off x="5692961" y="2323913"/>
            <a:ext cx="4774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Exon4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4D5A1B7E-FEA1-4F89-888D-547C35CAE0C9}"/>
              </a:ext>
            </a:extLst>
          </p:cNvPr>
          <p:cNvCxnSpPr>
            <a:cxnSpLocks/>
          </p:cNvCxnSpPr>
          <p:nvPr/>
        </p:nvCxnSpPr>
        <p:spPr>
          <a:xfrm>
            <a:off x="3649723" y="3744066"/>
            <a:ext cx="0" cy="21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BBBF16D-65DE-43FC-B616-9DC7EB8EF047}"/>
              </a:ext>
            </a:extLst>
          </p:cNvPr>
          <p:cNvCxnSpPr>
            <a:cxnSpLocks/>
          </p:cNvCxnSpPr>
          <p:nvPr/>
        </p:nvCxnSpPr>
        <p:spPr>
          <a:xfrm>
            <a:off x="4845996" y="3750810"/>
            <a:ext cx="0" cy="21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6258647A-26DA-44EC-BF75-57325DF74CE2}"/>
              </a:ext>
            </a:extLst>
          </p:cNvPr>
          <p:cNvCxnSpPr>
            <a:cxnSpLocks/>
          </p:cNvCxnSpPr>
          <p:nvPr/>
        </p:nvCxnSpPr>
        <p:spPr>
          <a:xfrm>
            <a:off x="5953256" y="3741370"/>
            <a:ext cx="0" cy="21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6028E799-5DAA-47F8-A2A4-6CDF37480631}"/>
              </a:ext>
            </a:extLst>
          </p:cNvPr>
          <p:cNvCxnSpPr>
            <a:cxnSpLocks/>
          </p:cNvCxnSpPr>
          <p:nvPr/>
        </p:nvCxnSpPr>
        <p:spPr>
          <a:xfrm>
            <a:off x="3649723" y="3744066"/>
            <a:ext cx="23062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Image 45">
            <a:extLst>
              <a:ext uri="{FF2B5EF4-FFF2-40B4-BE49-F238E27FC236}">
                <a16:creationId xmlns:a16="http://schemas.microsoft.com/office/drawing/2014/main" id="{DA90F9F0-599F-4BE5-9E1B-8B52BB878E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51621" b="72664"/>
          <a:stretch/>
        </p:blipFill>
        <p:spPr>
          <a:xfrm>
            <a:off x="6272722" y="2681144"/>
            <a:ext cx="330594" cy="140430"/>
          </a:xfrm>
          <a:prstGeom prst="rect">
            <a:avLst/>
          </a:prstGeom>
        </p:spPr>
      </p:pic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0977C3AE-3E57-4BC0-AD5A-0AE4E115B8A4}"/>
              </a:ext>
            </a:extLst>
          </p:cNvPr>
          <p:cNvCxnSpPr>
            <a:cxnSpLocks/>
          </p:cNvCxnSpPr>
          <p:nvPr/>
        </p:nvCxnSpPr>
        <p:spPr>
          <a:xfrm>
            <a:off x="4836555" y="2839011"/>
            <a:ext cx="0" cy="210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Image 47">
            <a:extLst>
              <a:ext uri="{FF2B5EF4-FFF2-40B4-BE49-F238E27FC236}">
                <a16:creationId xmlns:a16="http://schemas.microsoft.com/office/drawing/2014/main" id="{0FD0C7D1-0BDD-40D8-BCBE-A2812DAF9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44175" b="72888"/>
          <a:stretch/>
        </p:blipFill>
        <p:spPr>
          <a:xfrm>
            <a:off x="2485648" y="2511212"/>
            <a:ext cx="643559" cy="133350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FF331738-3B42-435C-9194-FEF413C2E4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2878" r="51621" b="72664"/>
          <a:stretch/>
        </p:blipFill>
        <p:spPr>
          <a:xfrm>
            <a:off x="6603147" y="2695980"/>
            <a:ext cx="330594" cy="14043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E4DA261A-DF07-43FB-B8E3-209F4C544A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EAE7FC"/>
              </a:clrFrom>
              <a:clrTo>
                <a:srgbClr val="EAE7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13" t="21955" r="48175" b="72888"/>
          <a:stretch/>
        </p:blipFill>
        <p:spPr>
          <a:xfrm>
            <a:off x="6929020" y="2692101"/>
            <a:ext cx="475408" cy="162433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BA2B8CE3-F61F-4C22-8022-FC5AAE08D564}"/>
              </a:ext>
            </a:extLst>
          </p:cNvPr>
          <p:cNvSpPr txBox="1"/>
          <p:nvPr/>
        </p:nvSpPr>
        <p:spPr>
          <a:xfrm>
            <a:off x="3558473" y="3014731"/>
            <a:ext cx="509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9A82332-A4B6-44E1-959A-0B6626A64B24}"/>
              </a:ext>
            </a:extLst>
          </p:cNvPr>
          <p:cNvSpPr txBox="1"/>
          <p:nvPr/>
        </p:nvSpPr>
        <p:spPr>
          <a:xfrm>
            <a:off x="4093863" y="2996112"/>
            <a:ext cx="509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CC97C543-1568-4B3B-BF83-5636613A7FE5}"/>
              </a:ext>
            </a:extLst>
          </p:cNvPr>
          <p:cNvSpPr txBox="1"/>
          <p:nvPr/>
        </p:nvSpPr>
        <p:spPr>
          <a:xfrm>
            <a:off x="4605470" y="3015980"/>
            <a:ext cx="509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4A0E9F2F-144D-4EB1-97D1-D14A2071B4FB}"/>
              </a:ext>
            </a:extLst>
          </p:cNvPr>
          <p:cNvSpPr txBox="1"/>
          <p:nvPr/>
        </p:nvSpPr>
        <p:spPr>
          <a:xfrm>
            <a:off x="5198591" y="3000421"/>
            <a:ext cx="5090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Exon4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ZoneTexte 37">
            <a:extLst>
              <a:ext uri="{FF2B5EF4-FFF2-40B4-BE49-F238E27FC236}">
                <a16:creationId xmlns:a16="http://schemas.microsoft.com/office/drawing/2014/main" id="{33DF9460-6790-19AB-D2B1-72CCC4AF47B5}"/>
              </a:ext>
            </a:extLst>
          </p:cNvPr>
          <p:cNvSpPr txBox="1"/>
          <p:nvPr/>
        </p:nvSpPr>
        <p:spPr>
          <a:xfrm>
            <a:off x="3677541" y="2403490"/>
            <a:ext cx="527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Intron1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ZoneTexte 37">
            <a:extLst>
              <a:ext uri="{FF2B5EF4-FFF2-40B4-BE49-F238E27FC236}">
                <a16:creationId xmlns:a16="http://schemas.microsoft.com/office/drawing/2014/main" id="{8C2B88A0-7FF9-51F0-6147-3138594D16F4}"/>
              </a:ext>
            </a:extLst>
          </p:cNvPr>
          <p:cNvSpPr txBox="1"/>
          <p:nvPr/>
        </p:nvSpPr>
        <p:spPr>
          <a:xfrm>
            <a:off x="4465545" y="2411281"/>
            <a:ext cx="527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Intron2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ZoneTexte 37">
            <a:extLst>
              <a:ext uri="{FF2B5EF4-FFF2-40B4-BE49-F238E27FC236}">
                <a16:creationId xmlns:a16="http://schemas.microsoft.com/office/drawing/2014/main" id="{DB8A47F7-EA22-E58B-EA03-DE8E5AB3840E}"/>
              </a:ext>
            </a:extLst>
          </p:cNvPr>
          <p:cNvSpPr txBox="1"/>
          <p:nvPr/>
        </p:nvSpPr>
        <p:spPr>
          <a:xfrm>
            <a:off x="5322543" y="2445341"/>
            <a:ext cx="527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Intron3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ZoneTexte 50">
            <a:extLst>
              <a:ext uri="{FF2B5EF4-FFF2-40B4-BE49-F238E27FC236}">
                <a16:creationId xmlns:a16="http://schemas.microsoft.com/office/drawing/2014/main" id="{8AC4C132-65A1-BACA-6B6B-F0DF6F1755CD}"/>
              </a:ext>
            </a:extLst>
          </p:cNvPr>
          <p:cNvSpPr txBox="1"/>
          <p:nvPr/>
        </p:nvSpPr>
        <p:spPr>
          <a:xfrm>
            <a:off x="4578289" y="4213154"/>
            <a:ext cx="650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Isoform 2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ZoneTexte 50">
            <a:extLst>
              <a:ext uri="{FF2B5EF4-FFF2-40B4-BE49-F238E27FC236}">
                <a16:creationId xmlns:a16="http://schemas.microsoft.com/office/drawing/2014/main" id="{58FC98B9-E259-B99B-E131-1AD76CCC7F48}"/>
              </a:ext>
            </a:extLst>
          </p:cNvPr>
          <p:cNvSpPr txBox="1"/>
          <p:nvPr/>
        </p:nvSpPr>
        <p:spPr>
          <a:xfrm>
            <a:off x="3350317" y="4209858"/>
            <a:ext cx="6502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Isoform 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ZoneTexte 51">
            <a:extLst>
              <a:ext uri="{FF2B5EF4-FFF2-40B4-BE49-F238E27FC236}">
                <a16:creationId xmlns:a16="http://schemas.microsoft.com/office/drawing/2014/main" id="{8E03EA4A-681C-6246-C370-7FEF0AE1A61F}"/>
              </a:ext>
            </a:extLst>
          </p:cNvPr>
          <p:cNvSpPr txBox="1"/>
          <p:nvPr/>
        </p:nvSpPr>
        <p:spPr>
          <a:xfrm>
            <a:off x="5777084" y="4219160"/>
            <a:ext cx="6292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latin typeface="Arial" panose="020B0604020202020204" pitchFamily="34" charset="0"/>
                <a:cs typeface="Arial" panose="020B0604020202020204" pitchFamily="34" charset="0"/>
              </a:rPr>
              <a:t>Isoform 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8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9DDC8A0C-471D-4AEF-8FFB-14EECFCA6B29}"/>
              </a:ext>
            </a:extLst>
          </p:cNvPr>
          <p:cNvSpPr/>
          <p:nvPr/>
        </p:nvSpPr>
        <p:spPr>
          <a:xfrm>
            <a:off x="571501" y="1691640"/>
            <a:ext cx="6412230" cy="4423410"/>
          </a:xfrm>
          <a:prstGeom prst="roundRect">
            <a:avLst>
              <a:gd name="adj" fmla="val 5569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3A4C2A-D5AE-491D-BA47-A9AA6ED25459}"/>
              </a:ext>
            </a:extLst>
          </p:cNvPr>
          <p:cNvSpPr txBox="1"/>
          <p:nvPr/>
        </p:nvSpPr>
        <p:spPr>
          <a:xfrm>
            <a:off x="5530963" y="4409533"/>
            <a:ext cx="97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2F16074-8783-459C-962D-29B32C377A5B}"/>
              </a:ext>
            </a:extLst>
          </p:cNvPr>
          <p:cNvSpPr txBox="1"/>
          <p:nvPr/>
        </p:nvSpPr>
        <p:spPr>
          <a:xfrm>
            <a:off x="5454961" y="2758406"/>
            <a:ext cx="1098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Base-calling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215F999-1692-4BD0-A589-60EA6564538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878" y="2745923"/>
            <a:ext cx="1481478" cy="33651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938F217-DD2A-456B-B81F-A362C7613D68}"/>
              </a:ext>
            </a:extLst>
          </p:cNvPr>
          <p:cNvSpPr txBox="1"/>
          <p:nvPr/>
        </p:nvSpPr>
        <p:spPr>
          <a:xfrm>
            <a:off x="3834578" y="3063985"/>
            <a:ext cx="1889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CGTTGATTTGCTGGGGG</a:t>
            </a:r>
            <a:endParaRPr lang="en-GB" sz="105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873F93B-8839-47B6-916D-F41FB6885E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 t="58816" r="9961" b="16490"/>
          <a:stretch/>
        </p:blipFill>
        <p:spPr>
          <a:xfrm>
            <a:off x="3628347" y="3618725"/>
            <a:ext cx="1715854" cy="5541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3B1006E-A883-4137-AECA-7DE1FC69E407}"/>
              </a:ext>
            </a:extLst>
          </p:cNvPr>
          <p:cNvSpPr txBox="1"/>
          <p:nvPr/>
        </p:nvSpPr>
        <p:spPr>
          <a:xfrm>
            <a:off x="5025020" y="5168074"/>
            <a:ext cx="185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Downstream analyses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15FE71E-2601-46DA-AE4D-E74A77E3E648}"/>
              </a:ext>
            </a:extLst>
          </p:cNvPr>
          <p:cNvSpPr txBox="1"/>
          <p:nvPr/>
        </p:nvSpPr>
        <p:spPr>
          <a:xfrm>
            <a:off x="5507554" y="2097039"/>
            <a:ext cx="11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Sequencing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DEC4F06-BBD6-44F9-9E1A-A336DF9D9CD3}"/>
              </a:ext>
            </a:extLst>
          </p:cNvPr>
          <p:cNvCxnSpPr>
            <a:cxnSpLocks/>
          </p:cNvCxnSpPr>
          <p:nvPr/>
        </p:nvCxnSpPr>
        <p:spPr>
          <a:xfrm>
            <a:off x="5959417" y="2339867"/>
            <a:ext cx="0" cy="44973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7E408328-4911-4F20-8E4B-F8E1327FFD77}"/>
              </a:ext>
            </a:extLst>
          </p:cNvPr>
          <p:cNvCxnSpPr>
            <a:cxnSpLocks/>
          </p:cNvCxnSpPr>
          <p:nvPr/>
        </p:nvCxnSpPr>
        <p:spPr>
          <a:xfrm>
            <a:off x="5942163" y="3077199"/>
            <a:ext cx="0" cy="132013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1B5980B-52AA-4D5C-9069-617EF03BC8A2}"/>
              </a:ext>
            </a:extLst>
          </p:cNvPr>
          <p:cNvCxnSpPr>
            <a:cxnSpLocks/>
          </p:cNvCxnSpPr>
          <p:nvPr/>
        </p:nvCxnSpPr>
        <p:spPr>
          <a:xfrm>
            <a:off x="5950753" y="4626966"/>
            <a:ext cx="0" cy="21229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DD2184E-B4F2-4DEA-A0C5-24AF3BDFC3C3}"/>
              </a:ext>
            </a:extLst>
          </p:cNvPr>
          <p:cNvCxnSpPr>
            <a:cxnSpLocks/>
          </p:cNvCxnSpPr>
          <p:nvPr/>
        </p:nvCxnSpPr>
        <p:spPr>
          <a:xfrm>
            <a:off x="5950754" y="4811526"/>
            <a:ext cx="0" cy="22471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DE69C60-5268-495B-A368-4F710184B615}"/>
              </a:ext>
            </a:extLst>
          </p:cNvPr>
          <p:cNvCxnSpPr>
            <a:cxnSpLocks/>
          </p:cNvCxnSpPr>
          <p:nvPr/>
        </p:nvCxnSpPr>
        <p:spPr>
          <a:xfrm>
            <a:off x="5950754" y="4992265"/>
            <a:ext cx="0" cy="20067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DA6E274B-3D6C-46A6-8031-5789C70501D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63" y="2191820"/>
            <a:ext cx="1647326" cy="37418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E25CEFC0-11E9-490C-AA4C-56AAA54758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 t="58816" r="9961" b="16490"/>
          <a:stretch/>
        </p:blipFill>
        <p:spPr>
          <a:xfrm>
            <a:off x="3800331" y="4627168"/>
            <a:ext cx="1742529" cy="562772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8793B0B-4C51-4F92-B7D1-9075027E01EF}"/>
              </a:ext>
            </a:extLst>
          </p:cNvPr>
          <p:cNvCxnSpPr>
            <a:cxnSpLocks/>
          </p:cNvCxnSpPr>
          <p:nvPr/>
        </p:nvCxnSpPr>
        <p:spPr>
          <a:xfrm>
            <a:off x="3808697" y="4575436"/>
            <a:ext cx="175979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35CF1E70-E9B2-4DDC-BDEB-2D49920D7934}"/>
              </a:ext>
            </a:extLst>
          </p:cNvPr>
          <p:cNvSpPr txBox="1"/>
          <p:nvPr/>
        </p:nvSpPr>
        <p:spPr>
          <a:xfrm>
            <a:off x="3575784" y="4333897"/>
            <a:ext cx="1807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latin typeface="Arial" panose="020B0604020202020204" pitchFamily="34" charset="0"/>
                <a:cs typeface="Arial" panose="020B0604020202020204" pitchFamily="34" charset="0"/>
              </a:rPr>
              <a:t>Mouse Reference Genome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8A09D41D-475E-4266-93E2-A6DE47863681}"/>
              </a:ext>
            </a:extLst>
          </p:cNvPr>
          <p:cNvGrpSpPr/>
          <p:nvPr/>
        </p:nvGrpSpPr>
        <p:grpSpPr>
          <a:xfrm>
            <a:off x="3184278" y="1883996"/>
            <a:ext cx="857331" cy="1236200"/>
            <a:chOff x="3774110" y="2101313"/>
            <a:chExt cx="820087" cy="1577402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2F858A58-DC57-402B-85F2-E45BA37DBF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8" t="6684" r="28518" b="20976"/>
            <a:stretch/>
          </p:blipFill>
          <p:spPr>
            <a:xfrm>
              <a:off x="3774110" y="2242807"/>
              <a:ext cx="671858" cy="1200082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A6545FC5-25CB-4EF5-9D82-EAAEF5BFC422}"/>
                </a:ext>
              </a:extLst>
            </p:cNvPr>
            <p:cNvSpPr txBox="1"/>
            <p:nvPr/>
          </p:nvSpPr>
          <p:spPr>
            <a:xfrm>
              <a:off x="4022088" y="3417076"/>
              <a:ext cx="409255" cy="26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latin typeface="Arial" panose="020B0604020202020204" pitchFamily="34" charset="0"/>
                  <a:cs typeface="Arial" panose="020B0604020202020204" pitchFamily="34" charset="0"/>
                </a:rPr>
                <a:t>3’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9A9C70F-7F28-439F-9D91-00DBE563284E}"/>
                </a:ext>
              </a:extLst>
            </p:cNvPr>
            <p:cNvSpPr txBox="1"/>
            <p:nvPr/>
          </p:nvSpPr>
          <p:spPr>
            <a:xfrm>
              <a:off x="4184942" y="2101313"/>
              <a:ext cx="409255" cy="26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r>
                <a:rPr lang="en-GB" sz="1000" dirty="0"/>
                <a:t>’</a:t>
              </a:r>
            </a:p>
          </p:txBody>
        </p:sp>
      </p:grp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60FFDFBB-0AE9-4AAC-8F79-46953F885D25}"/>
              </a:ext>
            </a:extLst>
          </p:cNvPr>
          <p:cNvCxnSpPr>
            <a:cxnSpLocks/>
            <a:stCxn id="30" idx="0"/>
            <a:endCxn id="27" idx="2"/>
          </p:cNvCxnSpPr>
          <p:nvPr/>
        </p:nvCxnSpPr>
        <p:spPr>
          <a:xfrm flipV="1">
            <a:off x="2560099" y="2487843"/>
            <a:ext cx="537925" cy="17709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E53E82D3-50ED-4C61-835E-EC318E4F60A7}"/>
              </a:ext>
            </a:extLst>
          </p:cNvPr>
          <p:cNvCxnSpPr>
            <a:cxnSpLocks/>
            <a:stCxn id="30" idx="3"/>
            <a:endCxn id="27" idx="5"/>
          </p:cNvCxnSpPr>
          <p:nvPr/>
        </p:nvCxnSpPr>
        <p:spPr>
          <a:xfrm flipV="1">
            <a:off x="2902924" y="2963627"/>
            <a:ext cx="971048" cy="15156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D771D88F-1306-4CDB-AA8B-241EE03F543B}"/>
              </a:ext>
            </a:extLst>
          </p:cNvPr>
          <p:cNvSpPr/>
          <p:nvPr/>
        </p:nvSpPr>
        <p:spPr>
          <a:xfrm>
            <a:off x="3098024" y="1814982"/>
            <a:ext cx="909080" cy="1345721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0708EE0-E851-4341-B841-562AC0E07588}"/>
              </a:ext>
            </a:extLst>
          </p:cNvPr>
          <p:cNvSpPr txBox="1"/>
          <p:nvPr/>
        </p:nvSpPr>
        <p:spPr>
          <a:xfrm>
            <a:off x="3575785" y="3609277"/>
            <a:ext cx="983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Reads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6D75847F-7FC8-4B6F-BB37-DF92408D7D2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" t="17210" r="55268" b="51678"/>
          <a:stretch/>
        </p:blipFill>
        <p:spPr>
          <a:xfrm>
            <a:off x="1206055" y="4121733"/>
            <a:ext cx="1224801" cy="616834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5EF988C7-A5FE-49F0-A233-1505F1F6EBC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11" t="59983" r="20541" b="16710"/>
          <a:stretch/>
        </p:blipFill>
        <p:spPr>
          <a:xfrm>
            <a:off x="2217274" y="4258832"/>
            <a:ext cx="685650" cy="440888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6264C65A-8CDD-47A9-A547-F60D78D46E3F}"/>
              </a:ext>
            </a:extLst>
          </p:cNvPr>
          <p:cNvSpPr txBox="1"/>
          <p:nvPr/>
        </p:nvSpPr>
        <p:spPr>
          <a:xfrm>
            <a:off x="809445" y="4847016"/>
            <a:ext cx="2537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Nanopore RNA sequencing</a:t>
            </a: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6C0C6CF2-83BD-4FF7-B735-B56B82795B67}"/>
              </a:ext>
            </a:extLst>
          </p:cNvPr>
          <p:cNvCxnSpPr/>
          <p:nvPr/>
        </p:nvCxnSpPr>
        <p:spPr>
          <a:xfrm>
            <a:off x="1782486" y="3672203"/>
            <a:ext cx="0" cy="38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 32">
            <a:extLst>
              <a:ext uri="{FF2B5EF4-FFF2-40B4-BE49-F238E27FC236}">
                <a16:creationId xmlns:a16="http://schemas.microsoft.com/office/drawing/2014/main" id="{2CE83691-CA45-4A77-89C4-10E59BDBB63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578" y="2983618"/>
            <a:ext cx="481016" cy="337039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BD17993C-1CD9-48F9-B61E-9A40C357AA97}"/>
              </a:ext>
            </a:extLst>
          </p:cNvPr>
          <p:cNvSpPr txBox="1"/>
          <p:nvPr/>
        </p:nvSpPr>
        <p:spPr>
          <a:xfrm>
            <a:off x="1152268" y="3310702"/>
            <a:ext cx="1237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 (liver)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5E10B348-6626-4E49-B481-63ECAD8E349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1045" b="77985"/>
          <a:stretch/>
        </p:blipFill>
        <p:spPr>
          <a:xfrm>
            <a:off x="792719" y="1843082"/>
            <a:ext cx="1928824" cy="1032994"/>
          </a:xfrm>
          <a:prstGeom prst="rect">
            <a:avLst/>
          </a:prstGeom>
        </p:spPr>
      </p:pic>
      <p:sp>
        <p:nvSpPr>
          <p:cNvPr id="50" name="ZoneTexte 49">
            <a:extLst>
              <a:ext uri="{FF2B5EF4-FFF2-40B4-BE49-F238E27FC236}">
                <a16:creationId xmlns:a16="http://schemas.microsoft.com/office/drawing/2014/main" id="{33EA0C91-8B9E-4644-90B9-943BBF4F49E9}"/>
              </a:ext>
            </a:extLst>
          </p:cNvPr>
          <p:cNvSpPr txBox="1"/>
          <p:nvPr/>
        </p:nvSpPr>
        <p:spPr>
          <a:xfrm>
            <a:off x="5148172" y="5395697"/>
            <a:ext cx="1707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Bioinformatics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DA4D6-B994-3974-A290-C4C620398F35}"/>
              </a:ext>
            </a:extLst>
          </p:cNvPr>
          <p:cNvSpPr txBox="1"/>
          <p:nvPr/>
        </p:nvSpPr>
        <p:spPr>
          <a:xfrm>
            <a:off x="8392562" y="2089041"/>
            <a:ext cx="1738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/>
              <a:t>Here do my informatics pipeline</a:t>
            </a:r>
          </a:p>
        </p:txBody>
      </p:sp>
      <p:sp>
        <p:nvSpPr>
          <p:cNvPr id="3" name="ZoneTexte 37">
            <a:extLst>
              <a:ext uri="{FF2B5EF4-FFF2-40B4-BE49-F238E27FC236}">
                <a16:creationId xmlns:a16="http://schemas.microsoft.com/office/drawing/2014/main" id="{31A9C959-195F-5620-7A63-6408F2EBD614}"/>
              </a:ext>
            </a:extLst>
          </p:cNvPr>
          <p:cNvSpPr txBox="1"/>
          <p:nvPr/>
        </p:nvSpPr>
        <p:spPr>
          <a:xfrm>
            <a:off x="571501" y="1349598"/>
            <a:ext cx="300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350614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CD43B71-2562-41AE-BDC5-E3C496763E8B}"/>
              </a:ext>
            </a:extLst>
          </p:cNvPr>
          <p:cNvSpPr/>
          <p:nvPr/>
        </p:nvSpPr>
        <p:spPr>
          <a:xfrm>
            <a:off x="803984" y="1700304"/>
            <a:ext cx="6433073" cy="4453668"/>
          </a:xfrm>
          <a:prstGeom prst="roundRect">
            <a:avLst>
              <a:gd name="adj" fmla="val 5569"/>
            </a:avLst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1EBF8C-85AE-4E9A-9A1B-71541F0CC5AA}"/>
              </a:ext>
            </a:extLst>
          </p:cNvPr>
          <p:cNvSpPr txBox="1"/>
          <p:nvPr/>
        </p:nvSpPr>
        <p:spPr>
          <a:xfrm>
            <a:off x="5828139" y="4595663"/>
            <a:ext cx="97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1B7EC46-4340-4F35-8B7A-DCB99B33B8B9}"/>
              </a:ext>
            </a:extLst>
          </p:cNvPr>
          <p:cNvSpPr txBox="1"/>
          <p:nvPr/>
        </p:nvSpPr>
        <p:spPr>
          <a:xfrm>
            <a:off x="5752137" y="2944536"/>
            <a:ext cx="1098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Base-calling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33FEE8A-0FA9-4C78-8DBC-C666E42181B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054" y="2932053"/>
            <a:ext cx="1481478" cy="33651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1E7973D-239A-4670-B93F-CAF3F78ACFD4}"/>
              </a:ext>
            </a:extLst>
          </p:cNvPr>
          <p:cNvSpPr txBox="1"/>
          <p:nvPr/>
        </p:nvSpPr>
        <p:spPr>
          <a:xfrm>
            <a:off x="4131754" y="3250115"/>
            <a:ext cx="18891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CGTTGATTTGCTGGGGG</a:t>
            </a:r>
            <a:endParaRPr lang="en-GB" sz="105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29BD257-3158-4EFF-A091-C74B009EB69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 t="58816" r="9961" b="16490"/>
          <a:stretch/>
        </p:blipFill>
        <p:spPr>
          <a:xfrm>
            <a:off x="3925523" y="3804855"/>
            <a:ext cx="1715854" cy="5541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521496F-4325-4EB3-8648-1D9D2F4258A8}"/>
              </a:ext>
            </a:extLst>
          </p:cNvPr>
          <p:cNvSpPr txBox="1"/>
          <p:nvPr/>
        </p:nvSpPr>
        <p:spPr>
          <a:xfrm>
            <a:off x="5322196" y="5354204"/>
            <a:ext cx="1852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Downstream analyses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5D26726-F30A-4129-AA99-A9DC2E1238A1}"/>
              </a:ext>
            </a:extLst>
          </p:cNvPr>
          <p:cNvSpPr txBox="1"/>
          <p:nvPr/>
        </p:nvSpPr>
        <p:spPr>
          <a:xfrm>
            <a:off x="5804730" y="2283169"/>
            <a:ext cx="11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Sequencing</a:t>
            </a:r>
            <a:endParaRPr lang="en-GB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CBEA162-D8AA-43FB-8469-FFE1F48BFF40}"/>
              </a:ext>
            </a:extLst>
          </p:cNvPr>
          <p:cNvCxnSpPr>
            <a:cxnSpLocks/>
          </p:cNvCxnSpPr>
          <p:nvPr/>
        </p:nvCxnSpPr>
        <p:spPr>
          <a:xfrm>
            <a:off x="6256593" y="2525997"/>
            <a:ext cx="0" cy="44973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D884E9E-8D3A-45FA-9F1F-DC36AF053643}"/>
              </a:ext>
            </a:extLst>
          </p:cNvPr>
          <p:cNvCxnSpPr>
            <a:cxnSpLocks/>
          </p:cNvCxnSpPr>
          <p:nvPr/>
        </p:nvCxnSpPr>
        <p:spPr>
          <a:xfrm>
            <a:off x="6239339" y="3263329"/>
            <a:ext cx="0" cy="132013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6B68798-60ED-495B-93A2-17D37B2FB5D7}"/>
              </a:ext>
            </a:extLst>
          </p:cNvPr>
          <p:cNvCxnSpPr>
            <a:cxnSpLocks/>
          </p:cNvCxnSpPr>
          <p:nvPr/>
        </p:nvCxnSpPr>
        <p:spPr>
          <a:xfrm>
            <a:off x="6247929" y="4813096"/>
            <a:ext cx="0" cy="21229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E0A4AD2-A139-4214-8D5E-957FFDDC24B4}"/>
              </a:ext>
            </a:extLst>
          </p:cNvPr>
          <p:cNvCxnSpPr>
            <a:cxnSpLocks/>
          </p:cNvCxnSpPr>
          <p:nvPr/>
        </p:nvCxnSpPr>
        <p:spPr>
          <a:xfrm>
            <a:off x="6247930" y="4997656"/>
            <a:ext cx="0" cy="22471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CF2A530-9E93-488E-886D-4F1B2FA097F9}"/>
              </a:ext>
            </a:extLst>
          </p:cNvPr>
          <p:cNvCxnSpPr>
            <a:cxnSpLocks/>
          </p:cNvCxnSpPr>
          <p:nvPr/>
        </p:nvCxnSpPr>
        <p:spPr>
          <a:xfrm>
            <a:off x="6247930" y="5178395"/>
            <a:ext cx="0" cy="20067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6F4710B2-1D18-4FCF-8395-B4AC77341AD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039" y="2377950"/>
            <a:ext cx="1647326" cy="37418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10CC7A3-1C2F-4C71-9A91-746026B122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15" t="58816" r="9961" b="16490"/>
          <a:stretch/>
        </p:blipFill>
        <p:spPr>
          <a:xfrm>
            <a:off x="4097507" y="4813298"/>
            <a:ext cx="1742529" cy="562772"/>
          </a:xfrm>
          <a:prstGeom prst="rect">
            <a:avLst/>
          </a:prstGeom>
        </p:spPr>
      </p:pic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4AB01E5-2597-4C15-B37D-060B70EF579F}"/>
              </a:ext>
            </a:extLst>
          </p:cNvPr>
          <p:cNvCxnSpPr>
            <a:cxnSpLocks/>
          </p:cNvCxnSpPr>
          <p:nvPr/>
        </p:nvCxnSpPr>
        <p:spPr>
          <a:xfrm>
            <a:off x="4105873" y="4761566"/>
            <a:ext cx="175979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EDE19849-4C97-41C5-8042-4D2EB7B23505}"/>
              </a:ext>
            </a:extLst>
          </p:cNvPr>
          <p:cNvSpPr txBox="1"/>
          <p:nvPr/>
        </p:nvSpPr>
        <p:spPr>
          <a:xfrm>
            <a:off x="3872960" y="4520027"/>
            <a:ext cx="14664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1" dirty="0"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1806755-C5FB-4E62-915C-235A6E86938E}"/>
              </a:ext>
            </a:extLst>
          </p:cNvPr>
          <p:cNvGrpSpPr/>
          <p:nvPr/>
        </p:nvGrpSpPr>
        <p:grpSpPr>
          <a:xfrm>
            <a:off x="3481454" y="2070126"/>
            <a:ext cx="857331" cy="1236200"/>
            <a:chOff x="3774110" y="2101313"/>
            <a:chExt cx="820087" cy="1577402"/>
          </a:xfrm>
        </p:grpSpPr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CB3688D5-DDBF-435B-852C-DE31822150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28" t="6684" r="28518" b="20976"/>
            <a:stretch/>
          </p:blipFill>
          <p:spPr>
            <a:xfrm>
              <a:off x="3774110" y="2242807"/>
              <a:ext cx="671858" cy="1200082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49EAE63-BBE1-417B-99FA-EC45480D142E}"/>
                </a:ext>
              </a:extLst>
            </p:cNvPr>
            <p:cNvSpPr txBox="1"/>
            <p:nvPr/>
          </p:nvSpPr>
          <p:spPr>
            <a:xfrm>
              <a:off x="4022088" y="3417076"/>
              <a:ext cx="409255" cy="26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latin typeface="Arial" panose="020B0604020202020204" pitchFamily="34" charset="0"/>
                  <a:cs typeface="Arial" panose="020B0604020202020204" pitchFamily="34" charset="0"/>
                </a:rPr>
                <a:t>3’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EED10666-AAB3-4EC4-8142-3F2BA49DACE0}"/>
                </a:ext>
              </a:extLst>
            </p:cNvPr>
            <p:cNvSpPr txBox="1"/>
            <p:nvPr/>
          </p:nvSpPr>
          <p:spPr>
            <a:xfrm>
              <a:off x="4184942" y="2101313"/>
              <a:ext cx="409255" cy="261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r>
                <a:rPr lang="en-GB" sz="1000" dirty="0"/>
                <a:t>’</a:t>
              </a:r>
            </a:p>
          </p:txBody>
        </p:sp>
      </p:grp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C1AAE452-6406-4627-B79E-7514C6B777EF}"/>
              </a:ext>
            </a:extLst>
          </p:cNvPr>
          <p:cNvCxnSpPr>
            <a:cxnSpLocks/>
            <a:stCxn id="31" idx="0"/>
            <a:endCxn id="27" idx="2"/>
          </p:cNvCxnSpPr>
          <p:nvPr/>
        </p:nvCxnSpPr>
        <p:spPr>
          <a:xfrm flipV="1">
            <a:off x="2857275" y="2673973"/>
            <a:ext cx="537925" cy="17709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E0F5059-8583-4B8D-BB28-F8F0E6CE71F9}"/>
              </a:ext>
            </a:extLst>
          </p:cNvPr>
          <p:cNvCxnSpPr>
            <a:cxnSpLocks/>
            <a:stCxn id="31" idx="3"/>
            <a:endCxn id="27" idx="5"/>
          </p:cNvCxnSpPr>
          <p:nvPr/>
        </p:nvCxnSpPr>
        <p:spPr>
          <a:xfrm flipV="1">
            <a:off x="3200100" y="3149757"/>
            <a:ext cx="971048" cy="15156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65D8EC2D-52F1-4F72-AF47-D7CD841C5F1D}"/>
              </a:ext>
            </a:extLst>
          </p:cNvPr>
          <p:cNvSpPr/>
          <p:nvPr/>
        </p:nvSpPr>
        <p:spPr>
          <a:xfrm>
            <a:off x="3395200" y="2001112"/>
            <a:ext cx="909080" cy="1345721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BE428FF-DB0C-42CE-8493-6156D2054A4A}"/>
              </a:ext>
            </a:extLst>
          </p:cNvPr>
          <p:cNvSpPr txBox="1"/>
          <p:nvPr/>
        </p:nvSpPr>
        <p:spPr>
          <a:xfrm>
            <a:off x="3872961" y="3795407"/>
            <a:ext cx="983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latin typeface="Arial" panose="020B0604020202020204" pitchFamily="34" charset="0"/>
                <a:cs typeface="Arial" panose="020B0604020202020204" pitchFamily="34" charset="0"/>
              </a:rPr>
              <a:t>Reads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986D289-4789-40C5-8F05-9D29606E176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829" r="31045" b="83810"/>
          <a:stretch/>
        </p:blipFill>
        <p:spPr>
          <a:xfrm>
            <a:off x="1446949" y="1969246"/>
            <a:ext cx="1727304" cy="645459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FB7CF2BB-0F17-44EF-B912-66D06CE39C5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2" t="17210" r="55268" b="51678"/>
          <a:stretch/>
        </p:blipFill>
        <p:spPr>
          <a:xfrm>
            <a:off x="1503231" y="4307863"/>
            <a:ext cx="1224801" cy="616834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61C2D7B0-7C95-4A0B-92B0-819D73639EA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11" t="59983" r="20541" b="16710"/>
          <a:stretch/>
        </p:blipFill>
        <p:spPr>
          <a:xfrm>
            <a:off x="2514450" y="4444962"/>
            <a:ext cx="685650" cy="440888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4C4CAF6E-8419-43BA-B821-3BCC8D816E2A}"/>
              </a:ext>
            </a:extLst>
          </p:cNvPr>
          <p:cNvSpPr txBox="1"/>
          <p:nvPr/>
        </p:nvSpPr>
        <p:spPr>
          <a:xfrm>
            <a:off x="1106621" y="5033146"/>
            <a:ext cx="2537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Direct RNA nanopore sequencing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57AA206E-976D-41C3-8F14-498E42F624DC}"/>
              </a:ext>
            </a:extLst>
          </p:cNvPr>
          <p:cNvCxnSpPr/>
          <p:nvPr/>
        </p:nvCxnSpPr>
        <p:spPr>
          <a:xfrm>
            <a:off x="2079662" y="3858333"/>
            <a:ext cx="0" cy="381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66DA2C0-B8F5-4C51-A3D6-71E98C98F76F}"/>
              </a:ext>
            </a:extLst>
          </p:cNvPr>
          <p:cNvSpPr/>
          <p:nvPr/>
        </p:nvSpPr>
        <p:spPr>
          <a:xfrm>
            <a:off x="5214620" y="5593801"/>
            <a:ext cx="188875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Transcriptome</a:t>
            </a:r>
          </a:p>
          <a:p>
            <a:pPr algn="ctr"/>
            <a:r>
              <a:rPr lang="en-GB" sz="1300" dirty="0">
                <a:latin typeface="Arial" panose="020B0604020202020204" pitchFamily="34" charset="0"/>
                <a:cs typeface="Arial" panose="020B0604020202020204" pitchFamily="34" charset="0"/>
              </a:rPr>
              <a:t>Alternative Splicing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F4D8645B-582E-4965-83EC-57B450F76826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049" y="3224339"/>
            <a:ext cx="481016" cy="337039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67DAADBF-225C-4FE1-A796-7ED1821F641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0825" t="4084" r="15044" b="90721"/>
          <a:stretch/>
        </p:blipFill>
        <p:spPr>
          <a:xfrm>
            <a:off x="879291" y="2625463"/>
            <a:ext cx="2452744" cy="279700"/>
          </a:xfrm>
          <a:prstGeom prst="rect">
            <a:avLst/>
          </a:prstGeom>
        </p:spPr>
      </p:pic>
      <p:sp>
        <p:nvSpPr>
          <p:cNvPr id="37" name="ZoneTexte 36">
            <a:extLst>
              <a:ext uri="{FF2B5EF4-FFF2-40B4-BE49-F238E27FC236}">
                <a16:creationId xmlns:a16="http://schemas.microsoft.com/office/drawing/2014/main" id="{E3C1AF75-5B5D-4251-A9B9-98BE330B8607}"/>
              </a:ext>
            </a:extLst>
          </p:cNvPr>
          <p:cNvSpPr txBox="1"/>
          <p:nvPr/>
        </p:nvSpPr>
        <p:spPr>
          <a:xfrm>
            <a:off x="1449444" y="3496832"/>
            <a:ext cx="1237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 (</a:t>
            </a:r>
            <a:r>
              <a:rPr lang="en-GB" sz="1200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polyA</a:t>
            </a:r>
            <a:r>
              <a:rPr lang="en-GB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9C720885-15C3-4DFE-910D-459A65D02359}"/>
              </a:ext>
            </a:extLst>
          </p:cNvPr>
          <p:cNvSpPr txBox="1"/>
          <p:nvPr/>
        </p:nvSpPr>
        <p:spPr>
          <a:xfrm>
            <a:off x="914400" y="1409700"/>
            <a:ext cx="3009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>
                <a:latin typeface="Arial" panose="020B0604020202020204" pitchFamily="34" charset="0"/>
                <a:cs typeface="Arial" panose="020B0604020202020204" pitchFamily="34" charset="0"/>
              </a:rPr>
              <a:t>Experimental design of Project 2</a:t>
            </a:r>
          </a:p>
        </p:txBody>
      </p:sp>
    </p:spTree>
    <p:extLst>
      <p:ext uri="{BB962C8B-B14F-4D97-AF65-F5344CB8AC3E}">
        <p14:creationId xmlns:p14="http://schemas.microsoft.com/office/powerpoint/2010/main" val="106102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/>
      <p:bldP spid="11" grpId="0"/>
      <p:bldP spid="20" grpId="0"/>
      <p:bldP spid="27" grpId="0" animBg="1"/>
      <p:bldP spid="28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9F36E3C-A3BB-4FA5-B656-239C1BC247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10"/>
          <a:stretch/>
        </p:blipFill>
        <p:spPr>
          <a:xfrm>
            <a:off x="570988" y="737811"/>
            <a:ext cx="6193061" cy="51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814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</TotalTime>
  <Words>80</Words>
  <Application>Microsoft Macintosh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Mamgain Khushi</dc:creator>
  <cp:lastModifiedBy>Gricey</cp:lastModifiedBy>
  <cp:revision>3</cp:revision>
  <dcterms:created xsi:type="dcterms:W3CDTF">2026-06-11T08:16:19Z</dcterms:created>
  <dcterms:modified xsi:type="dcterms:W3CDTF">2026-06-12T15:11:35Z</dcterms:modified>
</cp:coreProperties>
</file>