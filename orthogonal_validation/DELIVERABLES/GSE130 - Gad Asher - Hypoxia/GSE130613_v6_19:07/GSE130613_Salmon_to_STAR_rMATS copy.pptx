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3" r:id="rId2"/>
    <p:sldId id="258" r:id="rId3"/>
    <p:sldId id="283" r:id="rId4"/>
    <p:sldId id="282" r:id="rId5"/>
    <p:sldId id="259" r:id="rId6"/>
    <p:sldId id="260" r:id="rId7"/>
    <p:sldId id="261" r:id="rId8"/>
    <p:sldId id="262" r:id="rId9"/>
    <p:sldId id="271" r:id="rId10"/>
    <p:sldId id="269" r:id="rId11"/>
    <p:sldId id="270" r:id="rId12"/>
    <p:sldId id="272" r:id="rId13"/>
    <p:sldId id="256" r:id="rId14"/>
    <p:sldId id="277" r:id="rId15"/>
    <p:sldId id="279" r:id="rId16"/>
    <p:sldId id="280" r:id="rId17"/>
    <p:sldId id="281" r:id="rId18"/>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BA"/>
    <a:srgbClr val="C0EFFF"/>
    <a:srgbClr val="B0B5B2"/>
    <a:srgbClr val="80827F"/>
    <a:srgbClr val="9192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11"/>
    <p:restoredTop sz="96229"/>
  </p:normalViewPr>
  <p:slideViewPr>
    <p:cSldViewPr snapToGrid="0">
      <p:cViewPr>
        <p:scale>
          <a:sx n="109" d="100"/>
          <a:sy n="109" d="100"/>
        </p:scale>
        <p:origin x="144"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CD74A-6285-36CB-39CD-4E95063169D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2DAC0301-3422-3D50-B69A-384C1AAE7D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AE0C66EF-4B2C-7AC8-B81B-C5693AD837CA}"/>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5" name="Footer Placeholder 4">
            <a:extLst>
              <a:ext uri="{FF2B5EF4-FFF2-40B4-BE49-F238E27FC236}">
                <a16:creationId xmlns:a16="http://schemas.microsoft.com/office/drawing/2014/main" id="{3C8B1256-2468-8DE2-6BA6-98C3CA9B6DE9}"/>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A067D9B-C16D-AE4F-8663-0CC8B1D7F021}"/>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185246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5625E-8757-5ADE-B9A5-0EAA07E9815C}"/>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037A0D80-F34D-56D4-DF84-2B605342C1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9D40A751-6F02-AFE0-EC69-C6333445D716}"/>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5" name="Footer Placeholder 4">
            <a:extLst>
              <a:ext uri="{FF2B5EF4-FFF2-40B4-BE49-F238E27FC236}">
                <a16:creationId xmlns:a16="http://schemas.microsoft.com/office/drawing/2014/main" id="{F0415943-D35A-058E-61FA-6A61E7C8F01E}"/>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06C0BC69-CA58-6796-E995-DDACECA495DF}"/>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716000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0384-A825-F714-3014-A0B802321A3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A93BF76F-A684-5675-9BFD-A7AD67FFE0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22DACF3-B312-7F2F-9A92-188CBBD75E8C}"/>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5" name="Footer Placeholder 4">
            <a:extLst>
              <a:ext uri="{FF2B5EF4-FFF2-40B4-BE49-F238E27FC236}">
                <a16:creationId xmlns:a16="http://schemas.microsoft.com/office/drawing/2014/main" id="{06E85D4F-53FB-7FC4-CCDC-89BDE279D82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788D4CDC-5DFA-867E-7F4E-3FD603E726E4}"/>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59821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F0B-96DE-483A-FF10-C16B3090F644}"/>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BBACD600-0864-B6F6-2E7A-C04E4A5E70A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1AD1CC41-11E8-C07A-8416-F92AE93902A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432C9068-25E3-6F46-B608-BDAE4FBE8E6B}"/>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6" name="Footer Placeholder 5">
            <a:extLst>
              <a:ext uri="{FF2B5EF4-FFF2-40B4-BE49-F238E27FC236}">
                <a16:creationId xmlns:a16="http://schemas.microsoft.com/office/drawing/2014/main" id="{694ADEC3-C742-B3D4-0025-607C5C4D33BC}"/>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62187762-DC49-87D5-2C7B-44724FEEFA7F}"/>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699594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2A4C-F1EB-128B-BCE0-B17282457D6D}"/>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701CD9F2-30BA-F6CB-C72B-527B55518B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5AA857-6376-4ED0-1539-6F6E4077921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8EE0F208-D797-FEA0-D85D-69BC7B4102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7F604F3-AFDD-DA65-F14C-67C99ABC0C5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A7630C5C-FB67-F983-149B-0C854344093B}"/>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8" name="Footer Placeholder 7">
            <a:extLst>
              <a:ext uri="{FF2B5EF4-FFF2-40B4-BE49-F238E27FC236}">
                <a16:creationId xmlns:a16="http://schemas.microsoft.com/office/drawing/2014/main" id="{D8B3F46F-2C35-A491-334F-3875F81A0E9E}"/>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9C71973B-B696-9855-8D06-094AACB49C82}"/>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150849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71C4A-1E06-9140-28BF-7BA5FE2FB2B9}"/>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7A5E2C95-DF02-DD08-A51F-74E33AA1A534}"/>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4" name="Footer Placeholder 3">
            <a:extLst>
              <a:ext uri="{FF2B5EF4-FFF2-40B4-BE49-F238E27FC236}">
                <a16:creationId xmlns:a16="http://schemas.microsoft.com/office/drawing/2014/main" id="{7A97F772-A3C2-769A-9E61-618F6BA1B5AB}"/>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BFEC8CC5-E37B-7D9B-8EEA-3EA33966E4A7}"/>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3042687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8A9D06-AE23-5BAE-C4F3-123E966BB8D2}"/>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3" name="Footer Placeholder 2">
            <a:extLst>
              <a:ext uri="{FF2B5EF4-FFF2-40B4-BE49-F238E27FC236}">
                <a16:creationId xmlns:a16="http://schemas.microsoft.com/office/drawing/2014/main" id="{1B3B4D43-83D6-A8A7-ABED-586949F69780}"/>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E9CF10EE-254C-EFF5-51B6-AC09E81CCE96}"/>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1132112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73347-7A7B-B4A4-4186-A0A0B43532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24474E1B-70A5-0CA3-E4A6-0190262FFB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5595D64F-14DE-EAB3-E272-858D7CD573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773075-1C23-D81F-81AB-02E327BB4161}"/>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6" name="Footer Placeholder 5">
            <a:extLst>
              <a:ext uri="{FF2B5EF4-FFF2-40B4-BE49-F238E27FC236}">
                <a16:creationId xmlns:a16="http://schemas.microsoft.com/office/drawing/2014/main" id="{8C55B04D-2656-B298-4F64-7916C706E692}"/>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3F830C43-FC25-BCE1-4AD3-260E6BBFF89A}"/>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2781814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92E1-7340-DA0F-A537-6C592CB9602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135E83B0-FAE7-6EBD-6DE0-3AEA3A832E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A28B0879-3120-CB4D-5CDE-57C24E022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603AAE-88FB-A0D5-56AD-7395ED22C90B}"/>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6" name="Footer Placeholder 5">
            <a:extLst>
              <a:ext uri="{FF2B5EF4-FFF2-40B4-BE49-F238E27FC236}">
                <a16:creationId xmlns:a16="http://schemas.microsoft.com/office/drawing/2014/main" id="{C3697A01-216E-DB35-F7EA-50D408353BE0}"/>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03D03171-F0C6-ABA0-3CD5-E73E66E7E68C}"/>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077180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702F7-3203-FA9B-19BC-A9CFBC1B02FB}"/>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0ED9A59D-7D91-91C2-1A00-5D6879BF76E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3CDE7E96-7DDE-77B6-2ACE-BB52100B1061}"/>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5" name="Footer Placeholder 4">
            <a:extLst>
              <a:ext uri="{FF2B5EF4-FFF2-40B4-BE49-F238E27FC236}">
                <a16:creationId xmlns:a16="http://schemas.microsoft.com/office/drawing/2014/main" id="{22EBB918-F5D0-B6F0-CAE2-42BCD455B18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770AACA2-F900-1B6C-7FDE-74E56A79F80A}"/>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188638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7FF417-F976-B2C5-6D64-3583C73C20B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6E6ACCDE-4732-5FFB-8B10-FA9E9AF1A4F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4D3F6B80-2C18-40E3-D979-E798CF9DA1AE}"/>
              </a:ext>
            </a:extLst>
          </p:cNvPr>
          <p:cNvSpPr>
            <a:spLocks noGrp="1"/>
          </p:cNvSpPr>
          <p:nvPr>
            <p:ph type="dt" sz="half" idx="10"/>
          </p:nvPr>
        </p:nvSpPr>
        <p:spPr/>
        <p:txBody>
          <a:bodyPr/>
          <a:lstStyle/>
          <a:p>
            <a:fld id="{B9FDD5A2-855F-BF4F-A99A-5452F7DCB95D}" type="datetimeFigureOut">
              <a:rPr lang="en-FR" smtClean="0"/>
              <a:t>20/07/2026</a:t>
            </a:fld>
            <a:endParaRPr lang="en-FR"/>
          </a:p>
        </p:txBody>
      </p:sp>
      <p:sp>
        <p:nvSpPr>
          <p:cNvPr id="5" name="Footer Placeholder 4">
            <a:extLst>
              <a:ext uri="{FF2B5EF4-FFF2-40B4-BE49-F238E27FC236}">
                <a16:creationId xmlns:a16="http://schemas.microsoft.com/office/drawing/2014/main" id="{62F807E2-B25B-14A5-687E-48F491540EC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5B88B819-8045-AEA9-662D-E0254C60402D}"/>
              </a:ext>
            </a:extLst>
          </p:cNvPr>
          <p:cNvSpPr>
            <a:spLocks noGrp="1"/>
          </p:cNvSpPr>
          <p:nvPr>
            <p:ph type="sldNum" sz="quarter" idx="12"/>
          </p:nvPr>
        </p:nvSpPr>
        <p:spPr/>
        <p:txBody>
          <a:bodyPr/>
          <a:lstStyle/>
          <a:p>
            <a:fld id="{51B6F8F5-6F93-6948-8CE8-C6A3EB461992}" type="slidenum">
              <a:rPr lang="en-FR" smtClean="0"/>
              <a:t>‹#›</a:t>
            </a:fld>
            <a:endParaRPr lang="en-FR"/>
          </a:p>
        </p:txBody>
      </p:sp>
    </p:spTree>
    <p:extLst>
      <p:ext uri="{BB962C8B-B14F-4D97-AF65-F5344CB8AC3E}">
        <p14:creationId xmlns:p14="http://schemas.microsoft.com/office/powerpoint/2010/main" val="4229166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DDCC4E-4E07-4AD2-E0E9-5B884BB12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32CDD3F7-5F00-A6B7-4133-5F6A0B04DC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6E5BE481-6A08-999E-9DFE-62E18459EC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FDD5A2-855F-BF4F-A99A-5452F7DCB95D}" type="datetimeFigureOut">
              <a:rPr lang="en-FR" smtClean="0"/>
              <a:t>20/07/2026</a:t>
            </a:fld>
            <a:endParaRPr lang="en-FR"/>
          </a:p>
        </p:txBody>
      </p:sp>
      <p:sp>
        <p:nvSpPr>
          <p:cNvPr id="5" name="Footer Placeholder 4">
            <a:extLst>
              <a:ext uri="{FF2B5EF4-FFF2-40B4-BE49-F238E27FC236}">
                <a16:creationId xmlns:a16="http://schemas.microsoft.com/office/drawing/2014/main" id="{3697A6DC-E2F9-68DD-2727-FEB4C002DF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R"/>
          </a:p>
        </p:txBody>
      </p:sp>
      <p:sp>
        <p:nvSpPr>
          <p:cNvPr id="6" name="Slide Number Placeholder 5">
            <a:extLst>
              <a:ext uri="{FF2B5EF4-FFF2-40B4-BE49-F238E27FC236}">
                <a16:creationId xmlns:a16="http://schemas.microsoft.com/office/drawing/2014/main" id="{E43DA43E-2D9B-8D3F-7CC7-A6CC42BF12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6F8F5-6F93-6948-8CE8-C6A3EB461992}" type="slidenum">
              <a:rPr lang="en-FR" smtClean="0"/>
              <a:t>‹#›</a:t>
            </a:fld>
            <a:endParaRPr lang="en-FR"/>
          </a:p>
        </p:txBody>
      </p:sp>
    </p:spTree>
    <p:extLst>
      <p:ext uri="{BB962C8B-B14F-4D97-AF65-F5344CB8AC3E}">
        <p14:creationId xmlns:p14="http://schemas.microsoft.com/office/powerpoint/2010/main" val="3281610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image" Target="../media/image21.sv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6.xml"/><Relationship Id="rId5" Type="http://schemas.openxmlformats.org/officeDocument/2006/relationships/image" Target="../media/image25.sv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9" Type="http://schemas.openxmlformats.org/officeDocument/2006/relationships/image" Target="../media/image3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6.xml"/><Relationship Id="rId5" Type="http://schemas.openxmlformats.org/officeDocument/2006/relationships/image" Target="../media/image37.sv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E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A3285-9706-A0B1-D913-4C305D38B040}"/>
              </a:ext>
            </a:extLst>
          </p:cNvPr>
          <p:cNvSpPr>
            <a:spLocks noGrp="1"/>
          </p:cNvSpPr>
          <p:nvPr>
            <p:ph type="ctrTitle"/>
          </p:nvPr>
        </p:nvSpPr>
        <p:spPr>
          <a:xfrm>
            <a:off x="1464527" y="1315548"/>
            <a:ext cx="9262946" cy="2387600"/>
          </a:xfrm>
        </p:spPr>
        <p:txBody>
          <a:bodyPr>
            <a:normAutofit fontScale="90000"/>
          </a:bodyPr>
          <a:lstStyle/>
          <a:p>
            <a:r>
              <a:rPr lang="en-FR" dirty="0"/>
              <a:t>GSE130613 – Gad Asher Hypoxia 3’ MARS-seq x Nanopore</a:t>
            </a:r>
          </a:p>
        </p:txBody>
      </p:sp>
      <p:sp>
        <p:nvSpPr>
          <p:cNvPr id="3" name="Subtitle 2">
            <a:extLst>
              <a:ext uri="{FF2B5EF4-FFF2-40B4-BE49-F238E27FC236}">
                <a16:creationId xmlns:a16="http://schemas.microsoft.com/office/drawing/2014/main" id="{E73EF510-A053-768F-5941-6537489834EE}"/>
              </a:ext>
            </a:extLst>
          </p:cNvPr>
          <p:cNvSpPr>
            <a:spLocks noGrp="1"/>
          </p:cNvSpPr>
          <p:nvPr>
            <p:ph type="subTitle" idx="1"/>
          </p:nvPr>
        </p:nvSpPr>
        <p:spPr>
          <a:xfrm>
            <a:off x="1524000" y="3795223"/>
            <a:ext cx="9144000" cy="1655762"/>
          </a:xfrm>
        </p:spPr>
        <p:txBody>
          <a:bodyPr/>
          <a:lstStyle/>
          <a:p>
            <a:r>
              <a:rPr lang="en-FR" dirty="0"/>
              <a:t>15/06/2026 </a:t>
            </a:r>
            <a:r>
              <a:rPr lang="en-FR" dirty="0">
                <a:sym typeface="Wingdings" pitchFamily="2" charset="2"/>
              </a:rPr>
              <a:t>to 21</a:t>
            </a:r>
            <a:r>
              <a:rPr lang="en-FR" dirty="0"/>
              <a:t>/07/2026</a:t>
            </a:r>
          </a:p>
        </p:txBody>
      </p:sp>
    </p:spTree>
    <p:extLst>
      <p:ext uri="{BB962C8B-B14F-4D97-AF65-F5344CB8AC3E}">
        <p14:creationId xmlns:p14="http://schemas.microsoft.com/office/powerpoint/2010/main" val="824547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DC3D-7A18-3F3C-AFDD-C9A3080DB1B6}"/>
              </a:ext>
            </a:extLst>
          </p:cNvPr>
          <p:cNvSpPr>
            <a:spLocks noGrp="1"/>
          </p:cNvSpPr>
          <p:nvPr>
            <p:ph type="title"/>
          </p:nvPr>
        </p:nvSpPr>
        <p:spPr/>
        <p:txBody>
          <a:bodyPr/>
          <a:lstStyle/>
          <a:p>
            <a:r>
              <a:rPr lang="en-GB" dirty="0"/>
              <a:t>Baseline — original Salmon pipeline</a:t>
            </a:r>
            <a:endParaRPr lang="en-FR" dirty="0"/>
          </a:p>
        </p:txBody>
      </p:sp>
      <p:sp>
        <p:nvSpPr>
          <p:cNvPr id="6" name="TextBox 5">
            <a:extLst>
              <a:ext uri="{FF2B5EF4-FFF2-40B4-BE49-F238E27FC236}">
                <a16:creationId xmlns:a16="http://schemas.microsoft.com/office/drawing/2014/main" id="{CC1066BC-FF3D-433F-C787-AE934AE77F12}"/>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OLD pipeline</a:t>
            </a:r>
          </a:p>
        </p:txBody>
      </p:sp>
      <p:pic>
        <p:nvPicPr>
          <p:cNvPr id="12" name="Picture 11">
            <a:extLst>
              <a:ext uri="{FF2B5EF4-FFF2-40B4-BE49-F238E27FC236}">
                <a16:creationId xmlns:a16="http://schemas.microsoft.com/office/drawing/2014/main" id="{A4348271-BDFB-FEFA-4C87-9DA289848DF7}"/>
              </a:ext>
            </a:extLst>
          </p:cNvPr>
          <p:cNvPicPr>
            <a:picLocks noChangeAspect="1"/>
          </p:cNvPicPr>
          <p:nvPr/>
        </p:nvPicPr>
        <p:blipFill>
          <a:blip r:embed="rId2"/>
          <a:stretch>
            <a:fillRect/>
          </a:stretch>
        </p:blipFill>
        <p:spPr>
          <a:xfrm>
            <a:off x="594708" y="1690688"/>
            <a:ext cx="5044092" cy="3806862"/>
          </a:xfrm>
          <a:prstGeom prst="rect">
            <a:avLst/>
          </a:prstGeom>
        </p:spPr>
      </p:pic>
      <p:pic>
        <p:nvPicPr>
          <p:cNvPr id="14" name="Picture 13">
            <a:extLst>
              <a:ext uri="{FF2B5EF4-FFF2-40B4-BE49-F238E27FC236}">
                <a16:creationId xmlns:a16="http://schemas.microsoft.com/office/drawing/2014/main" id="{742824BA-38A6-2DCE-F856-1F833E240E80}"/>
              </a:ext>
            </a:extLst>
          </p:cNvPr>
          <p:cNvPicPr>
            <a:picLocks noChangeAspect="1"/>
          </p:cNvPicPr>
          <p:nvPr/>
        </p:nvPicPr>
        <p:blipFill>
          <a:blip r:embed="rId3"/>
          <a:stretch>
            <a:fillRect/>
          </a:stretch>
        </p:blipFill>
        <p:spPr>
          <a:xfrm>
            <a:off x="5962207" y="1784369"/>
            <a:ext cx="5295900" cy="3619500"/>
          </a:xfrm>
          <a:prstGeom prst="rect">
            <a:avLst/>
          </a:prstGeom>
        </p:spPr>
      </p:pic>
      <p:sp>
        <p:nvSpPr>
          <p:cNvPr id="15" name="TextBox 14">
            <a:extLst>
              <a:ext uri="{FF2B5EF4-FFF2-40B4-BE49-F238E27FC236}">
                <a16:creationId xmlns:a16="http://schemas.microsoft.com/office/drawing/2014/main" id="{8F50DC5A-764A-ADE3-2A33-A2D7A332F001}"/>
              </a:ext>
            </a:extLst>
          </p:cNvPr>
          <p:cNvSpPr txBox="1"/>
          <p:nvPr/>
        </p:nvSpPr>
        <p:spPr>
          <a:xfrm>
            <a:off x="5169638" y="6123543"/>
            <a:ext cx="1852723" cy="369332"/>
          </a:xfrm>
          <a:prstGeom prst="rect">
            <a:avLst/>
          </a:prstGeom>
          <a:noFill/>
        </p:spPr>
        <p:txBody>
          <a:bodyPr wrap="square" rtlCol="0">
            <a:spAutoFit/>
          </a:bodyPr>
          <a:lstStyle/>
          <a:p>
            <a:pPr algn="ctr"/>
            <a:r>
              <a:rPr lang="en-FR" dirty="0">
                <a:highlight>
                  <a:srgbClr val="FFFF00"/>
                </a:highlight>
              </a:rPr>
              <a:t>BEFORE trimming</a:t>
            </a:r>
          </a:p>
        </p:txBody>
      </p:sp>
    </p:spTree>
    <p:extLst>
      <p:ext uri="{BB962C8B-B14F-4D97-AF65-F5344CB8AC3E}">
        <p14:creationId xmlns:p14="http://schemas.microsoft.com/office/powerpoint/2010/main" val="2024468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DC3D-7A18-3F3C-AFDD-C9A3080DB1B6}"/>
              </a:ext>
            </a:extLst>
          </p:cNvPr>
          <p:cNvSpPr>
            <a:spLocks noGrp="1"/>
          </p:cNvSpPr>
          <p:nvPr>
            <p:ph type="title"/>
          </p:nvPr>
        </p:nvSpPr>
        <p:spPr/>
        <p:txBody>
          <a:bodyPr/>
          <a:lstStyle/>
          <a:p>
            <a:r>
              <a:rPr lang="en-GB" dirty="0"/>
              <a:t>Baseline — original Salmon pipeline</a:t>
            </a:r>
            <a:endParaRPr lang="en-FR" dirty="0"/>
          </a:p>
        </p:txBody>
      </p:sp>
      <p:sp>
        <p:nvSpPr>
          <p:cNvPr id="6" name="TextBox 5">
            <a:extLst>
              <a:ext uri="{FF2B5EF4-FFF2-40B4-BE49-F238E27FC236}">
                <a16:creationId xmlns:a16="http://schemas.microsoft.com/office/drawing/2014/main" id="{CC1066BC-FF3D-433F-C787-AE934AE77F12}"/>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OLD pipeline</a:t>
            </a:r>
          </a:p>
        </p:txBody>
      </p:sp>
      <p:pic>
        <p:nvPicPr>
          <p:cNvPr id="4" name="Picture 3">
            <a:extLst>
              <a:ext uri="{FF2B5EF4-FFF2-40B4-BE49-F238E27FC236}">
                <a16:creationId xmlns:a16="http://schemas.microsoft.com/office/drawing/2014/main" id="{721CD4D5-CB61-719E-AC4A-025509CFC52F}"/>
              </a:ext>
            </a:extLst>
          </p:cNvPr>
          <p:cNvPicPr>
            <a:picLocks noChangeAspect="1"/>
          </p:cNvPicPr>
          <p:nvPr/>
        </p:nvPicPr>
        <p:blipFill>
          <a:blip r:embed="rId2"/>
          <a:stretch>
            <a:fillRect/>
          </a:stretch>
        </p:blipFill>
        <p:spPr>
          <a:xfrm>
            <a:off x="3200400" y="1690688"/>
            <a:ext cx="5791200" cy="4445000"/>
          </a:xfrm>
          <a:prstGeom prst="rect">
            <a:avLst/>
          </a:prstGeom>
        </p:spPr>
      </p:pic>
      <p:sp>
        <p:nvSpPr>
          <p:cNvPr id="5" name="TextBox 4">
            <a:extLst>
              <a:ext uri="{FF2B5EF4-FFF2-40B4-BE49-F238E27FC236}">
                <a16:creationId xmlns:a16="http://schemas.microsoft.com/office/drawing/2014/main" id="{BC84A92D-3FC4-3536-9029-5B3D6B3F9AAA}"/>
              </a:ext>
            </a:extLst>
          </p:cNvPr>
          <p:cNvSpPr txBox="1"/>
          <p:nvPr/>
        </p:nvSpPr>
        <p:spPr>
          <a:xfrm>
            <a:off x="5169638" y="6123543"/>
            <a:ext cx="1852723" cy="369332"/>
          </a:xfrm>
          <a:prstGeom prst="rect">
            <a:avLst/>
          </a:prstGeom>
          <a:noFill/>
        </p:spPr>
        <p:txBody>
          <a:bodyPr wrap="square" rtlCol="0">
            <a:spAutoFit/>
          </a:bodyPr>
          <a:lstStyle/>
          <a:p>
            <a:pPr algn="ctr"/>
            <a:r>
              <a:rPr lang="en-FR" dirty="0">
                <a:highlight>
                  <a:srgbClr val="FFFF00"/>
                </a:highlight>
              </a:rPr>
              <a:t>AFTER trimming</a:t>
            </a:r>
          </a:p>
        </p:txBody>
      </p:sp>
    </p:spTree>
    <p:extLst>
      <p:ext uri="{BB962C8B-B14F-4D97-AF65-F5344CB8AC3E}">
        <p14:creationId xmlns:p14="http://schemas.microsoft.com/office/powerpoint/2010/main" val="3212665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DC3D-7A18-3F3C-AFDD-C9A3080DB1B6}"/>
              </a:ext>
            </a:extLst>
          </p:cNvPr>
          <p:cNvSpPr>
            <a:spLocks noGrp="1"/>
          </p:cNvSpPr>
          <p:nvPr>
            <p:ph type="title"/>
          </p:nvPr>
        </p:nvSpPr>
        <p:spPr/>
        <p:txBody>
          <a:bodyPr/>
          <a:lstStyle/>
          <a:p>
            <a:r>
              <a:rPr lang="en-GB" dirty="0"/>
              <a:t>Baseline — original Salmon pipeline</a:t>
            </a:r>
            <a:endParaRPr lang="en-FR" dirty="0"/>
          </a:p>
        </p:txBody>
      </p:sp>
      <p:pic>
        <p:nvPicPr>
          <p:cNvPr id="4" name="Picture 3">
            <a:extLst>
              <a:ext uri="{FF2B5EF4-FFF2-40B4-BE49-F238E27FC236}">
                <a16:creationId xmlns:a16="http://schemas.microsoft.com/office/drawing/2014/main" id="{5810FAE8-F773-49B3-8DD0-C25F2D750668}"/>
              </a:ext>
            </a:extLst>
          </p:cNvPr>
          <p:cNvPicPr>
            <a:picLocks noChangeAspect="1"/>
          </p:cNvPicPr>
          <p:nvPr/>
        </p:nvPicPr>
        <p:blipFill rotWithShape="1">
          <a:blip r:embed="rId2"/>
          <a:srcRect r="12974"/>
          <a:stretch/>
        </p:blipFill>
        <p:spPr>
          <a:xfrm>
            <a:off x="0" y="1376762"/>
            <a:ext cx="5080000" cy="3563092"/>
          </a:xfrm>
          <a:prstGeom prst="rect">
            <a:avLst/>
          </a:prstGeom>
        </p:spPr>
      </p:pic>
      <p:pic>
        <p:nvPicPr>
          <p:cNvPr id="5" name="Graphic 4">
            <a:extLst>
              <a:ext uri="{FF2B5EF4-FFF2-40B4-BE49-F238E27FC236}">
                <a16:creationId xmlns:a16="http://schemas.microsoft.com/office/drawing/2014/main" id="{783B57BC-4C18-44E1-9E96-8BC0FA8EA2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92496" y="4939854"/>
            <a:ext cx="2495008" cy="1879357"/>
          </a:xfrm>
          <a:prstGeom prst="rect">
            <a:avLst/>
          </a:prstGeom>
        </p:spPr>
      </p:pic>
      <p:pic>
        <p:nvPicPr>
          <p:cNvPr id="7" name="Picture 6">
            <a:extLst>
              <a:ext uri="{FF2B5EF4-FFF2-40B4-BE49-F238E27FC236}">
                <a16:creationId xmlns:a16="http://schemas.microsoft.com/office/drawing/2014/main" id="{91CD3271-804A-3006-B3F8-10E7FECD7255}"/>
              </a:ext>
            </a:extLst>
          </p:cNvPr>
          <p:cNvPicPr>
            <a:picLocks noChangeAspect="1"/>
          </p:cNvPicPr>
          <p:nvPr/>
        </p:nvPicPr>
        <p:blipFill rotWithShape="1">
          <a:blip r:embed="rId2"/>
          <a:srcRect l="80716" b="84092"/>
          <a:stretch/>
        </p:blipFill>
        <p:spPr>
          <a:xfrm>
            <a:off x="4406900" y="1376762"/>
            <a:ext cx="1125706" cy="566799"/>
          </a:xfrm>
          <a:prstGeom prst="rect">
            <a:avLst/>
          </a:prstGeom>
        </p:spPr>
      </p:pic>
      <p:pic>
        <p:nvPicPr>
          <p:cNvPr id="9" name="Picture 8">
            <a:extLst>
              <a:ext uri="{FF2B5EF4-FFF2-40B4-BE49-F238E27FC236}">
                <a16:creationId xmlns:a16="http://schemas.microsoft.com/office/drawing/2014/main" id="{01B4C9C9-D7CF-3AD9-507A-24C6118388A0}"/>
              </a:ext>
            </a:extLst>
          </p:cNvPr>
          <p:cNvPicPr>
            <a:picLocks noChangeAspect="1"/>
          </p:cNvPicPr>
          <p:nvPr/>
        </p:nvPicPr>
        <p:blipFill>
          <a:blip r:embed="rId5"/>
          <a:stretch>
            <a:fillRect/>
          </a:stretch>
        </p:blipFill>
        <p:spPr>
          <a:xfrm>
            <a:off x="5532606" y="1507038"/>
            <a:ext cx="6659394" cy="3545911"/>
          </a:xfrm>
          <a:prstGeom prst="rect">
            <a:avLst/>
          </a:prstGeom>
        </p:spPr>
      </p:pic>
      <p:pic>
        <p:nvPicPr>
          <p:cNvPr id="11" name="Graphic 10">
            <a:extLst>
              <a:ext uri="{FF2B5EF4-FFF2-40B4-BE49-F238E27FC236}">
                <a16:creationId xmlns:a16="http://schemas.microsoft.com/office/drawing/2014/main" id="{779561C0-69C2-A0B7-254C-BB27994CAA5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73949" y="5052949"/>
            <a:ext cx="1923635" cy="1805578"/>
          </a:xfrm>
          <a:prstGeom prst="rect">
            <a:avLst/>
          </a:prstGeom>
        </p:spPr>
      </p:pic>
      <p:sp>
        <p:nvSpPr>
          <p:cNvPr id="6" name="TextBox 5">
            <a:extLst>
              <a:ext uri="{FF2B5EF4-FFF2-40B4-BE49-F238E27FC236}">
                <a16:creationId xmlns:a16="http://schemas.microsoft.com/office/drawing/2014/main" id="{CC1066BC-FF3D-433F-C787-AE934AE77F12}"/>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OLD pipeline</a:t>
            </a:r>
          </a:p>
        </p:txBody>
      </p:sp>
      <p:cxnSp>
        <p:nvCxnSpPr>
          <p:cNvPr id="10" name="Straight Arrow Connector 9">
            <a:extLst>
              <a:ext uri="{FF2B5EF4-FFF2-40B4-BE49-F238E27FC236}">
                <a16:creationId xmlns:a16="http://schemas.microsoft.com/office/drawing/2014/main" id="{440D18D3-E42A-D7BE-1179-ABE8A63CC49E}"/>
              </a:ext>
            </a:extLst>
          </p:cNvPr>
          <p:cNvCxnSpPr>
            <a:cxnSpLocks/>
          </p:cNvCxnSpPr>
          <p:nvPr/>
        </p:nvCxnSpPr>
        <p:spPr>
          <a:xfrm flipV="1">
            <a:off x="6096000" y="4939854"/>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FE85FB1-024D-4DF7-1F7E-5A4AAF092E22}"/>
              </a:ext>
            </a:extLst>
          </p:cNvPr>
          <p:cNvCxnSpPr>
            <a:cxnSpLocks/>
          </p:cNvCxnSpPr>
          <p:nvPr/>
        </p:nvCxnSpPr>
        <p:spPr>
          <a:xfrm flipV="1">
            <a:off x="10898459" y="4939854"/>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5675F53-7144-4C61-6702-48293E4CDE10}"/>
              </a:ext>
            </a:extLst>
          </p:cNvPr>
          <p:cNvCxnSpPr>
            <a:cxnSpLocks/>
          </p:cNvCxnSpPr>
          <p:nvPr/>
        </p:nvCxnSpPr>
        <p:spPr>
          <a:xfrm flipV="1">
            <a:off x="739697" y="4922983"/>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FBB91D1-9D1F-219C-B097-A5EA85401102}"/>
              </a:ext>
            </a:extLst>
          </p:cNvPr>
          <p:cNvCxnSpPr>
            <a:cxnSpLocks/>
          </p:cNvCxnSpPr>
          <p:nvPr/>
        </p:nvCxnSpPr>
        <p:spPr>
          <a:xfrm flipV="1">
            <a:off x="4339993" y="4922983"/>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029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A80B-8C84-4455-90B4-FFF43417CCBB}"/>
              </a:ext>
            </a:extLst>
          </p:cNvPr>
          <p:cNvSpPr>
            <a:spLocks noGrp="1"/>
          </p:cNvSpPr>
          <p:nvPr>
            <p:ph type="title"/>
          </p:nvPr>
        </p:nvSpPr>
        <p:spPr/>
        <p:txBody>
          <a:bodyPr/>
          <a:lstStyle/>
          <a:p>
            <a:r>
              <a:rPr lang="en-GB" dirty="0">
                <a:highlight>
                  <a:srgbClr val="00FF00"/>
                </a:highlight>
              </a:rPr>
              <a:t>Sanity check </a:t>
            </a:r>
            <a:r>
              <a:rPr lang="en-GB" dirty="0"/>
              <a:t>— GEO official counts</a:t>
            </a:r>
            <a:endParaRPr lang="en-FR" dirty="0"/>
          </a:p>
        </p:txBody>
      </p:sp>
      <p:pic>
        <p:nvPicPr>
          <p:cNvPr id="7" name="Picture 6">
            <a:extLst>
              <a:ext uri="{FF2B5EF4-FFF2-40B4-BE49-F238E27FC236}">
                <a16:creationId xmlns:a16="http://schemas.microsoft.com/office/drawing/2014/main" id="{FBFDB5AD-C0AE-75D6-9BD1-B1A6E924B23F}"/>
              </a:ext>
            </a:extLst>
          </p:cNvPr>
          <p:cNvPicPr>
            <a:picLocks noChangeAspect="1"/>
          </p:cNvPicPr>
          <p:nvPr/>
        </p:nvPicPr>
        <p:blipFill>
          <a:blip r:embed="rId2">
            <a:alphaModFix/>
          </a:blip>
          <a:stretch>
            <a:fillRect/>
          </a:stretch>
        </p:blipFill>
        <p:spPr>
          <a:xfrm>
            <a:off x="-38996" y="1587656"/>
            <a:ext cx="6210300" cy="4657725"/>
          </a:xfrm>
          <a:prstGeom prst="rect">
            <a:avLst/>
          </a:prstGeom>
        </p:spPr>
      </p:pic>
      <p:pic>
        <p:nvPicPr>
          <p:cNvPr id="8" name="Picture 7">
            <a:extLst>
              <a:ext uri="{FF2B5EF4-FFF2-40B4-BE49-F238E27FC236}">
                <a16:creationId xmlns:a16="http://schemas.microsoft.com/office/drawing/2014/main" id="{DC74153C-C55B-BA86-5984-C7CA2349B083}"/>
              </a:ext>
            </a:extLst>
          </p:cNvPr>
          <p:cNvPicPr>
            <a:picLocks noChangeAspect="1"/>
          </p:cNvPicPr>
          <p:nvPr/>
        </p:nvPicPr>
        <p:blipFill>
          <a:blip r:embed="rId3">
            <a:alphaModFix/>
          </a:blip>
          <a:stretch>
            <a:fillRect/>
          </a:stretch>
        </p:blipFill>
        <p:spPr>
          <a:xfrm>
            <a:off x="6613572" y="1304329"/>
            <a:ext cx="5365750" cy="4982482"/>
          </a:xfrm>
          <a:prstGeom prst="rect">
            <a:avLst/>
          </a:prstGeom>
        </p:spPr>
      </p:pic>
      <p:sp>
        <p:nvSpPr>
          <p:cNvPr id="3" name="TextBox 2">
            <a:extLst>
              <a:ext uri="{FF2B5EF4-FFF2-40B4-BE49-F238E27FC236}">
                <a16:creationId xmlns:a16="http://schemas.microsoft.com/office/drawing/2014/main" id="{28279487-6C1F-CAD8-45BD-58222640F6D0}"/>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cxnSp>
        <p:nvCxnSpPr>
          <p:cNvPr id="4" name="Straight Arrow Connector 3">
            <a:extLst>
              <a:ext uri="{FF2B5EF4-FFF2-40B4-BE49-F238E27FC236}">
                <a16:creationId xmlns:a16="http://schemas.microsoft.com/office/drawing/2014/main" id="{30251070-6607-5079-742D-C3A98A46B6F2}"/>
              </a:ext>
            </a:extLst>
          </p:cNvPr>
          <p:cNvCxnSpPr>
            <a:cxnSpLocks/>
          </p:cNvCxnSpPr>
          <p:nvPr/>
        </p:nvCxnSpPr>
        <p:spPr>
          <a:xfrm flipV="1">
            <a:off x="7590264" y="607480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3245AF03-D8A3-8156-D74B-FD9AD5016BB7}"/>
              </a:ext>
            </a:extLst>
          </p:cNvPr>
          <p:cNvCxnSpPr>
            <a:cxnSpLocks/>
          </p:cNvCxnSpPr>
          <p:nvPr/>
        </p:nvCxnSpPr>
        <p:spPr>
          <a:xfrm flipV="1">
            <a:off x="11446728" y="6053198"/>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CDBDF31-94E8-2BBE-1801-9FB30C0E762E}"/>
              </a:ext>
            </a:extLst>
          </p:cNvPr>
          <p:cNvCxnSpPr>
            <a:cxnSpLocks/>
          </p:cNvCxnSpPr>
          <p:nvPr/>
        </p:nvCxnSpPr>
        <p:spPr>
          <a:xfrm flipV="1">
            <a:off x="182136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EB2D936-F6F8-1CB4-6DCC-8E0ACB5A81A7}"/>
              </a:ext>
            </a:extLst>
          </p:cNvPr>
          <p:cNvCxnSpPr>
            <a:cxnSpLocks/>
          </p:cNvCxnSpPr>
          <p:nvPr/>
        </p:nvCxnSpPr>
        <p:spPr>
          <a:xfrm flipV="1">
            <a:off x="5287537"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20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9E8F-FAED-6077-958A-A270289242C9}"/>
              </a:ext>
            </a:extLst>
          </p:cNvPr>
          <p:cNvSpPr>
            <a:spLocks noGrp="1"/>
          </p:cNvSpPr>
          <p:nvPr>
            <p:ph type="title"/>
          </p:nvPr>
        </p:nvSpPr>
        <p:spPr/>
        <p:txBody>
          <a:bodyPr/>
          <a:lstStyle/>
          <a:p>
            <a:r>
              <a:rPr lang="en-GB" dirty="0"/>
              <a:t>Step 1 — 3'UTR extension (still Salmon)</a:t>
            </a:r>
            <a:endParaRPr lang="en-FR" dirty="0"/>
          </a:p>
        </p:txBody>
      </p:sp>
      <p:pic>
        <p:nvPicPr>
          <p:cNvPr id="4" name="Picture 3">
            <a:extLst>
              <a:ext uri="{FF2B5EF4-FFF2-40B4-BE49-F238E27FC236}">
                <a16:creationId xmlns:a16="http://schemas.microsoft.com/office/drawing/2014/main" id="{747463AC-29FA-F636-5149-023CCB54C573}"/>
              </a:ext>
            </a:extLst>
          </p:cNvPr>
          <p:cNvPicPr>
            <a:picLocks noChangeAspect="1"/>
          </p:cNvPicPr>
          <p:nvPr/>
        </p:nvPicPr>
        <p:blipFill>
          <a:blip r:embed="rId2"/>
          <a:stretch>
            <a:fillRect/>
          </a:stretch>
        </p:blipFill>
        <p:spPr>
          <a:xfrm>
            <a:off x="0" y="1498599"/>
            <a:ext cx="6109856" cy="4800601"/>
          </a:xfrm>
          <a:prstGeom prst="rect">
            <a:avLst/>
          </a:prstGeom>
        </p:spPr>
      </p:pic>
      <p:pic>
        <p:nvPicPr>
          <p:cNvPr id="6" name="Picture 5">
            <a:extLst>
              <a:ext uri="{FF2B5EF4-FFF2-40B4-BE49-F238E27FC236}">
                <a16:creationId xmlns:a16="http://schemas.microsoft.com/office/drawing/2014/main" id="{47C112B5-F78E-E519-C49A-99971C71C0E0}"/>
              </a:ext>
            </a:extLst>
          </p:cNvPr>
          <p:cNvPicPr>
            <a:picLocks noChangeAspect="1"/>
          </p:cNvPicPr>
          <p:nvPr/>
        </p:nvPicPr>
        <p:blipFill>
          <a:blip r:embed="rId3"/>
          <a:stretch>
            <a:fillRect/>
          </a:stretch>
        </p:blipFill>
        <p:spPr>
          <a:xfrm>
            <a:off x="6540500" y="1204686"/>
            <a:ext cx="5486400" cy="5094514"/>
          </a:xfrm>
          <a:prstGeom prst="rect">
            <a:avLst/>
          </a:prstGeom>
        </p:spPr>
      </p:pic>
      <p:cxnSp>
        <p:nvCxnSpPr>
          <p:cNvPr id="7" name="Straight Arrow Connector 6">
            <a:extLst>
              <a:ext uri="{FF2B5EF4-FFF2-40B4-BE49-F238E27FC236}">
                <a16:creationId xmlns:a16="http://schemas.microsoft.com/office/drawing/2014/main" id="{0F7E9DE0-6C94-8E7D-24DB-72BFF8E305B8}"/>
              </a:ext>
            </a:extLst>
          </p:cNvPr>
          <p:cNvCxnSpPr>
            <a:cxnSpLocks/>
          </p:cNvCxnSpPr>
          <p:nvPr/>
        </p:nvCxnSpPr>
        <p:spPr>
          <a:xfrm flipV="1">
            <a:off x="7547826" y="6019720"/>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131D0DC-FD9A-E7AB-4D92-D8E2F4A52775}"/>
              </a:ext>
            </a:extLst>
          </p:cNvPr>
          <p:cNvCxnSpPr>
            <a:cxnSpLocks/>
          </p:cNvCxnSpPr>
          <p:nvPr/>
        </p:nvCxnSpPr>
        <p:spPr>
          <a:xfrm flipV="1">
            <a:off x="11592003" y="6019720"/>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4082DC-A4E1-5806-B4ED-FAB5DCB8D05F}"/>
              </a:ext>
            </a:extLst>
          </p:cNvPr>
          <p:cNvCxnSpPr>
            <a:cxnSpLocks/>
          </p:cNvCxnSpPr>
          <p:nvPr/>
        </p:nvCxnSpPr>
        <p:spPr>
          <a:xfrm flipV="1">
            <a:off x="2445833" y="6187012"/>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3A85DD0-266F-37C6-4134-2A9492C40948}"/>
              </a:ext>
            </a:extLst>
          </p:cNvPr>
          <p:cNvCxnSpPr>
            <a:cxnSpLocks/>
          </p:cNvCxnSpPr>
          <p:nvPr/>
        </p:nvCxnSpPr>
        <p:spPr>
          <a:xfrm flipV="1">
            <a:off x="4406590" y="6187012"/>
            <a:ext cx="0" cy="8265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9BEE4DB-92EC-3908-06DF-882AAC207533}"/>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sp>
        <p:nvSpPr>
          <p:cNvPr id="12" name="TextBox 11">
            <a:extLst>
              <a:ext uri="{FF2B5EF4-FFF2-40B4-BE49-F238E27FC236}">
                <a16:creationId xmlns:a16="http://schemas.microsoft.com/office/drawing/2014/main" id="{1D6EE404-B4EB-B065-9F6F-8579332A8DDD}"/>
              </a:ext>
            </a:extLst>
          </p:cNvPr>
          <p:cNvSpPr txBox="1"/>
          <p:nvPr/>
        </p:nvSpPr>
        <p:spPr>
          <a:xfrm>
            <a:off x="980097" y="14757"/>
            <a:ext cx="3775249" cy="369332"/>
          </a:xfrm>
          <a:prstGeom prst="rect">
            <a:avLst/>
          </a:prstGeom>
          <a:noFill/>
        </p:spPr>
        <p:txBody>
          <a:bodyPr wrap="square" rtlCol="0">
            <a:spAutoFit/>
          </a:bodyPr>
          <a:lstStyle/>
          <a:p>
            <a:pPr algn="ctr"/>
            <a:r>
              <a:rPr lang="en-FR" dirty="0">
                <a:highlight>
                  <a:srgbClr val="FFFF00"/>
                </a:highlight>
              </a:rPr>
              <a:t>From Salmon To STAR + htseq-count</a:t>
            </a:r>
          </a:p>
        </p:txBody>
      </p:sp>
      <p:sp>
        <p:nvSpPr>
          <p:cNvPr id="13" name="TextBox 12">
            <a:extLst>
              <a:ext uri="{FF2B5EF4-FFF2-40B4-BE49-F238E27FC236}">
                <a16:creationId xmlns:a16="http://schemas.microsoft.com/office/drawing/2014/main" id="{72E0F28B-8059-89EC-6356-C15FFA432C0E}"/>
              </a:ext>
            </a:extLst>
          </p:cNvPr>
          <p:cNvSpPr txBox="1"/>
          <p:nvPr/>
        </p:nvSpPr>
        <p:spPr>
          <a:xfrm>
            <a:off x="7014117" y="65043"/>
            <a:ext cx="4895385" cy="600164"/>
          </a:xfrm>
          <a:prstGeom prst="rect">
            <a:avLst/>
          </a:prstGeom>
          <a:noFill/>
        </p:spPr>
        <p:txBody>
          <a:bodyPr wrap="square" rtlCol="0">
            <a:spAutoFit/>
          </a:bodyPr>
          <a:lstStyle/>
          <a:p>
            <a:r>
              <a:rPr lang="en-GB" sz="1100" i="1" dirty="0">
                <a:solidFill>
                  <a:srgbClr val="FF33BA"/>
                </a:solidFill>
                <a:latin typeface="Arial" panose="020B0604020202020204" pitchFamily="34" charset="0"/>
                <a:cs typeface="Arial" panose="020B0604020202020204" pitchFamily="34" charset="0"/>
              </a:rPr>
              <a:t>The extended transcriptome GTF stretches every gene's annotated boundary 1000bp toward its 5' end and 100bp toward its 3' end (following Asher’s methods)</a:t>
            </a:r>
            <a:endParaRPr lang="en-FR" sz="1100" i="1" dirty="0">
              <a:solidFill>
                <a:srgbClr val="FF33B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5062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9E004-CB67-04F1-8B0B-7E1D60D53D4A}"/>
              </a:ext>
            </a:extLst>
          </p:cNvPr>
          <p:cNvSpPr>
            <a:spLocks noGrp="1"/>
          </p:cNvSpPr>
          <p:nvPr>
            <p:ph type="title"/>
          </p:nvPr>
        </p:nvSpPr>
        <p:spPr/>
        <p:txBody>
          <a:bodyPr/>
          <a:lstStyle/>
          <a:p>
            <a:r>
              <a:rPr lang="en-GB" dirty="0"/>
              <a:t>Step 2a — STAR + </a:t>
            </a:r>
            <a:r>
              <a:rPr lang="en-GB" dirty="0" err="1"/>
              <a:t>htseq</a:t>
            </a:r>
            <a:r>
              <a:rPr lang="en-GB" dirty="0"/>
              <a:t>-count (extended GTF)</a:t>
            </a:r>
            <a:endParaRPr lang="en-FR" dirty="0"/>
          </a:p>
        </p:txBody>
      </p:sp>
      <p:pic>
        <p:nvPicPr>
          <p:cNvPr id="8" name="Picture 7">
            <a:extLst>
              <a:ext uri="{FF2B5EF4-FFF2-40B4-BE49-F238E27FC236}">
                <a16:creationId xmlns:a16="http://schemas.microsoft.com/office/drawing/2014/main" id="{9C763B8A-3223-F3B8-A608-6ED3F8ABD9F5}"/>
              </a:ext>
            </a:extLst>
          </p:cNvPr>
          <p:cNvPicPr>
            <a:picLocks noChangeAspect="1"/>
          </p:cNvPicPr>
          <p:nvPr/>
        </p:nvPicPr>
        <p:blipFill>
          <a:blip r:embed="rId2">
            <a:alphaModFix/>
          </a:blip>
          <a:stretch>
            <a:fillRect/>
          </a:stretch>
        </p:blipFill>
        <p:spPr>
          <a:xfrm>
            <a:off x="6605831" y="1220787"/>
            <a:ext cx="5482615" cy="5091000"/>
          </a:xfrm>
          <a:prstGeom prst="rect">
            <a:avLst/>
          </a:prstGeom>
        </p:spPr>
      </p:pic>
      <p:pic>
        <p:nvPicPr>
          <p:cNvPr id="9" name="Picture 8">
            <a:extLst>
              <a:ext uri="{FF2B5EF4-FFF2-40B4-BE49-F238E27FC236}">
                <a16:creationId xmlns:a16="http://schemas.microsoft.com/office/drawing/2014/main" id="{97D13CED-23D5-FC24-EB01-EFDEA2D3147D}"/>
              </a:ext>
            </a:extLst>
          </p:cNvPr>
          <p:cNvPicPr>
            <a:picLocks noChangeAspect="1"/>
          </p:cNvPicPr>
          <p:nvPr/>
        </p:nvPicPr>
        <p:blipFill>
          <a:blip r:embed="rId3">
            <a:alphaModFix/>
          </a:blip>
          <a:stretch>
            <a:fillRect/>
          </a:stretch>
        </p:blipFill>
        <p:spPr>
          <a:xfrm>
            <a:off x="12700" y="1589201"/>
            <a:ext cx="5994400" cy="4709886"/>
          </a:xfrm>
          <a:prstGeom prst="rect">
            <a:avLst/>
          </a:prstGeom>
        </p:spPr>
      </p:pic>
      <p:cxnSp>
        <p:nvCxnSpPr>
          <p:cNvPr id="5" name="Straight Arrow Connector 4">
            <a:extLst>
              <a:ext uri="{FF2B5EF4-FFF2-40B4-BE49-F238E27FC236}">
                <a16:creationId xmlns:a16="http://schemas.microsoft.com/office/drawing/2014/main" id="{1B56A269-081C-36C1-F2B7-D31FADC1EA31}"/>
              </a:ext>
            </a:extLst>
          </p:cNvPr>
          <p:cNvCxnSpPr>
            <a:cxnSpLocks/>
          </p:cNvCxnSpPr>
          <p:nvPr/>
        </p:nvCxnSpPr>
        <p:spPr>
          <a:xfrm flipV="1">
            <a:off x="8928410"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04BF299-2147-8A4C-9244-6CDB7C80EDBB}"/>
              </a:ext>
            </a:extLst>
          </p:cNvPr>
          <p:cNvCxnSpPr>
            <a:cxnSpLocks/>
          </p:cNvCxnSpPr>
          <p:nvPr/>
        </p:nvCxnSpPr>
        <p:spPr>
          <a:xfrm flipV="1">
            <a:off x="10799957"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E81E3F1-1A40-FD7A-CDD6-B6F3A6EF9B7B}"/>
              </a:ext>
            </a:extLst>
          </p:cNvPr>
          <p:cNvCxnSpPr>
            <a:cxnSpLocks/>
          </p:cNvCxnSpPr>
          <p:nvPr/>
        </p:nvCxnSpPr>
        <p:spPr>
          <a:xfrm flipV="1">
            <a:off x="182136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748BE0C-5582-66E9-B52F-F1F18388C5D0}"/>
              </a:ext>
            </a:extLst>
          </p:cNvPr>
          <p:cNvCxnSpPr>
            <a:cxnSpLocks/>
          </p:cNvCxnSpPr>
          <p:nvPr/>
        </p:nvCxnSpPr>
        <p:spPr>
          <a:xfrm flipV="1">
            <a:off x="554401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0598979-AA90-B433-8EAC-4DB7EF87342D}"/>
              </a:ext>
            </a:extLst>
          </p:cNvPr>
          <p:cNvSpPr txBox="1"/>
          <p:nvPr/>
        </p:nvSpPr>
        <p:spPr>
          <a:xfrm>
            <a:off x="7014117" y="65043"/>
            <a:ext cx="4895385" cy="600164"/>
          </a:xfrm>
          <a:prstGeom prst="rect">
            <a:avLst/>
          </a:prstGeom>
          <a:noFill/>
        </p:spPr>
        <p:txBody>
          <a:bodyPr wrap="square" rtlCol="0">
            <a:spAutoFit/>
          </a:bodyPr>
          <a:lstStyle/>
          <a:p>
            <a:r>
              <a:rPr lang="en-GB" sz="1100" i="1" dirty="0">
                <a:solidFill>
                  <a:srgbClr val="FF33BA"/>
                </a:solidFill>
                <a:latin typeface="Arial" panose="020B0604020202020204" pitchFamily="34" charset="0"/>
                <a:cs typeface="Arial" panose="020B0604020202020204" pitchFamily="34" charset="0"/>
              </a:rPr>
              <a:t>The extended transcriptome GTF stretches every gene's annotated boundary 1000bp toward its 5' end and 100bp toward its 3' end (following Asher’s methods)</a:t>
            </a:r>
            <a:endParaRPr lang="en-FR" sz="1100" i="1" dirty="0">
              <a:solidFill>
                <a:srgbClr val="FF33BA"/>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D8CADED-B569-1082-65AF-635028914C87}"/>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sp>
        <p:nvSpPr>
          <p:cNvPr id="14" name="TextBox 13">
            <a:extLst>
              <a:ext uri="{FF2B5EF4-FFF2-40B4-BE49-F238E27FC236}">
                <a16:creationId xmlns:a16="http://schemas.microsoft.com/office/drawing/2014/main" id="{90EA95A0-7C4A-4745-7A73-B0F2C29AB50D}"/>
              </a:ext>
            </a:extLst>
          </p:cNvPr>
          <p:cNvSpPr txBox="1"/>
          <p:nvPr/>
        </p:nvSpPr>
        <p:spPr>
          <a:xfrm>
            <a:off x="980097" y="14757"/>
            <a:ext cx="3775249" cy="369332"/>
          </a:xfrm>
          <a:prstGeom prst="rect">
            <a:avLst/>
          </a:prstGeom>
          <a:noFill/>
        </p:spPr>
        <p:txBody>
          <a:bodyPr wrap="square" rtlCol="0">
            <a:spAutoFit/>
          </a:bodyPr>
          <a:lstStyle/>
          <a:p>
            <a:pPr algn="ctr"/>
            <a:r>
              <a:rPr lang="en-FR" dirty="0">
                <a:highlight>
                  <a:srgbClr val="FFFF00"/>
                </a:highlight>
              </a:rPr>
              <a:t>From Salmon To STAR + htseq-count</a:t>
            </a:r>
          </a:p>
        </p:txBody>
      </p:sp>
    </p:spTree>
    <p:extLst>
      <p:ext uri="{BB962C8B-B14F-4D97-AF65-F5344CB8AC3E}">
        <p14:creationId xmlns:p14="http://schemas.microsoft.com/office/powerpoint/2010/main" val="3462537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5AE6E9D-9704-9E91-9225-BF6C373DB6FC}"/>
              </a:ext>
            </a:extLst>
          </p:cNvPr>
          <p:cNvPicPr>
            <a:picLocks noChangeAspect="1"/>
          </p:cNvPicPr>
          <p:nvPr/>
        </p:nvPicPr>
        <p:blipFill>
          <a:blip r:embed="rId2">
            <a:alphaModFix/>
          </a:blip>
          <a:stretch>
            <a:fillRect/>
          </a:stretch>
        </p:blipFill>
        <p:spPr>
          <a:xfrm>
            <a:off x="6613524" y="1224137"/>
            <a:ext cx="5482616" cy="5091000"/>
          </a:xfrm>
          <a:prstGeom prst="rect">
            <a:avLst/>
          </a:prstGeom>
        </p:spPr>
      </p:pic>
      <p:sp>
        <p:nvSpPr>
          <p:cNvPr id="2" name="Title 1">
            <a:extLst>
              <a:ext uri="{FF2B5EF4-FFF2-40B4-BE49-F238E27FC236}">
                <a16:creationId xmlns:a16="http://schemas.microsoft.com/office/drawing/2014/main" id="{5AB4FA51-4F95-D68D-FE9C-48A1F81FA118}"/>
              </a:ext>
            </a:extLst>
          </p:cNvPr>
          <p:cNvSpPr>
            <a:spLocks noGrp="1"/>
          </p:cNvSpPr>
          <p:nvPr>
            <p:ph type="title"/>
          </p:nvPr>
        </p:nvSpPr>
        <p:spPr/>
        <p:txBody>
          <a:bodyPr/>
          <a:lstStyle/>
          <a:p>
            <a:r>
              <a:rPr lang="en-GB" dirty="0"/>
              <a:t>Step 2b — STAR + </a:t>
            </a:r>
            <a:r>
              <a:rPr lang="en-GB" dirty="0" err="1"/>
              <a:t>htseq</a:t>
            </a:r>
            <a:r>
              <a:rPr lang="en-GB" dirty="0"/>
              <a:t>-count (original GTF)</a:t>
            </a:r>
            <a:endParaRPr lang="en-FR" dirty="0"/>
          </a:p>
        </p:txBody>
      </p:sp>
      <p:pic>
        <p:nvPicPr>
          <p:cNvPr id="5" name="Picture 4">
            <a:extLst>
              <a:ext uri="{FF2B5EF4-FFF2-40B4-BE49-F238E27FC236}">
                <a16:creationId xmlns:a16="http://schemas.microsoft.com/office/drawing/2014/main" id="{649AF2DD-8C24-9EF3-5BFE-A76300C0035A}"/>
              </a:ext>
            </a:extLst>
          </p:cNvPr>
          <p:cNvPicPr>
            <a:picLocks noChangeAspect="1"/>
          </p:cNvPicPr>
          <p:nvPr/>
        </p:nvPicPr>
        <p:blipFill>
          <a:blip r:embed="rId3">
            <a:alphaModFix/>
          </a:blip>
          <a:stretch>
            <a:fillRect/>
          </a:stretch>
        </p:blipFill>
        <p:spPr>
          <a:xfrm>
            <a:off x="814" y="1566143"/>
            <a:ext cx="6026834" cy="4735370"/>
          </a:xfrm>
          <a:prstGeom prst="rect">
            <a:avLst/>
          </a:prstGeom>
        </p:spPr>
      </p:pic>
      <p:cxnSp>
        <p:nvCxnSpPr>
          <p:cNvPr id="7" name="Straight Arrow Connector 6">
            <a:extLst>
              <a:ext uri="{FF2B5EF4-FFF2-40B4-BE49-F238E27FC236}">
                <a16:creationId xmlns:a16="http://schemas.microsoft.com/office/drawing/2014/main" id="{31E5B07F-D9B8-A8E6-7383-DD76DC742280}"/>
              </a:ext>
            </a:extLst>
          </p:cNvPr>
          <p:cNvCxnSpPr>
            <a:cxnSpLocks/>
          </p:cNvCxnSpPr>
          <p:nvPr/>
        </p:nvCxnSpPr>
        <p:spPr>
          <a:xfrm flipV="1">
            <a:off x="8928410"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FEDFEE3-6B77-1489-4508-397C4C5E635B}"/>
              </a:ext>
            </a:extLst>
          </p:cNvPr>
          <p:cNvCxnSpPr>
            <a:cxnSpLocks/>
          </p:cNvCxnSpPr>
          <p:nvPr/>
        </p:nvCxnSpPr>
        <p:spPr>
          <a:xfrm flipV="1">
            <a:off x="10799957"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4B8BCE1-C98A-FCCC-02BA-5D4011B035D6}"/>
              </a:ext>
            </a:extLst>
          </p:cNvPr>
          <p:cNvCxnSpPr>
            <a:cxnSpLocks/>
          </p:cNvCxnSpPr>
          <p:nvPr/>
        </p:nvCxnSpPr>
        <p:spPr>
          <a:xfrm flipV="1">
            <a:off x="182136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E6A75ED-BA83-41D1-AC40-06C41B576E3F}"/>
              </a:ext>
            </a:extLst>
          </p:cNvPr>
          <p:cNvCxnSpPr>
            <a:cxnSpLocks/>
          </p:cNvCxnSpPr>
          <p:nvPr/>
        </p:nvCxnSpPr>
        <p:spPr>
          <a:xfrm flipV="1">
            <a:off x="5544015" y="6187012"/>
            <a:ext cx="0" cy="82658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04D38B6-747F-DA6A-9E5C-E8414C874857}"/>
              </a:ext>
            </a:extLst>
          </p:cNvPr>
          <p:cNvSpPr txBox="1"/>
          <p:nvPr/>
        </p:nvSpPr>
        <p:spPr>
          <a:xfrm>
            <a:off x="980097" y="14757"/>
            <a:ext cx="3775249" cy="369332"/>
          </a:xfrm>
          <a:prstGeom prst="rect">
            <a:avLst/>
          </a:prstGeom>
          <a:noFill/>
        </p:spPr>
        <p:txBody>
          <a:bodyPr wrap="square" rtlCol="0">
            <a:spAutoFit/>
          </a:bodyPr>
          <a:lstStyle/>
          <a:p>
            <a:pPr algn="ctr"/>
            <a:r>
              <a:rPr lang="en-FR" dirty="0">
                <a:highlight>
                  <a:srgbClr val="FFFF00"/>
                </a:highlight>
              </a:rPr>
              <a:t>From Salmon To STAR + htseq-count</a:t>
            </a:r>
          </a:p>
        </p:txBody>
      </p:sp>
      <p:sp>
        <p:nvSpPr>
          <p:cNvPr id="12" name="TextBox 11">
            <a:extLst>
              <a:ext uri="{FF2B5EF4-FFF2-40B4-BE49-F238E27FC236}">
                <a16:creationId xmlns:a16="http://schemas.microsoft.com/office/drawing/2014/main" id="{2172B67A-159C-0E46-DACB-FF4BB58DD04C}"/>
              </a:ext>
            </a:extLst>
          </p:cNvPr>
          <p:cNvSpPr txBox="1"/>
          <p:nvPr/>
        </p:nvSpPr>
        <p:spPr>
          <a:xfrm>
            <a:off x="5073805" y="14757"/>
            <a:ext cx="7118195" cy="707886"/>
          </a:xfrm>
          <a:prstGeom prst="rect">
            <a:avLst/>
          </a:prstGeom>
          <a:noFill/>
        </p:spPr>
        <p:txBody>
          <a:bodyPr wrap="square" rtlCol="0">
            <a:spAutoFit/>
          </a:bodyPr>
          <a:lstStyle/>
          <a:p>
            <a:r>
              <a:rPr lang="en-GB" sz="1000" i="1" dirty="0">
                <a:solidFill>
                  <a:srgbClr val="FF33BA"/>
                </a:solidFill>
                <a:latin typeface="Arial" panose="020B0604020202020204" pitchFamily="34" charset="0"/>
                <a:cs typeface="Arial" panose="020B0604020202020204" pitchFamily="34" charset="0"/>
              </a:rPr>
              <a:t>We kept the ORIGINAL GTF because the read assignment quality itself got worse with the extension: 45.2% of reads assigned to a gene / 32.4% ambiguous with the extended GTF, versus 50.3% assigned / 26.7% ambiguous with the original. Stretching gene boundaries made </a:t>
            </a:r>
            <a:r>
              <a:rPr lang="en-GB" sz="1000" i="1" dirty="0" err="1">
                <a:solidFill>
                  <a:srgbClr val="FF33BA"/>
                </a:solidFill>
                <a:latin typeface="Arial" panose="020B0604020202020204" pitchFamily="34" charset="0"/>
                <a:cs typeface="Arial" panose="020B0604020202020204" pitchFamily="34" charset="0"/>
              </a:rPr>
              <a:t>neighboring</a:t>
            </a:r>
            <a:r>
              <a:rPr lang="en-GB" sz="1000" i="1" dirty="0">
                <a:solidFill>
                  <a:srgbClr val="FF33BA"/>
                </a:solidFill>
                <a:latin typeface="Arial" panose="020B0604020202020204" pitchFamily="34" charset="0"/>
                <a:cs typeface="Arial" panose="020B0604020202020204" pitchFamily="34" charset="0"/>
              </a:rPr>
              <a:t> genes' territories overlap more, so more reads became ambiguous between two extended regions instead of cleanly landing in one. The extension backfired on its own goal.</a:t>
            </a:r>
            <a:endParaRPr lang="en-FR" sz="1000" i="1" dirty="0">
              <a:solidFill>
                <a:srgbClr val="FF33BA"/>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18D5DB15-D49F-6F24-9F45-345A2E93773B}"/>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Exploration</a:t>
            </a:r>
          </a:p>
        </p:txBody>
      </p:sp>
    </p:spTree>
    <p:extLst>
      <p:ext uri="{BB962C8B-B14F-4D97-AF65-F5344CB8AC3E}">
        <p14:creationId xmlns:p14="http://schemas.microsoft.com/office/powerpoint/2010/main" val="1744145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CB123-1075-58B9-D2A8-EDFFF9D77CA1}"/>
              </a:ext>
            </a:extLst>
          </p:cNvPr>
          <p:cNvSpPr>
            <a:spLocks noGrp="1"/>
          </p:cNvSpPr>
          <p:nvPr>
            <p:ph type="ctrTitle"/>
          </p:nvPr>
        </p:nvSpPr>
        <p:spPr>
          <a:xfrm>
            <a:off x="1524000" y="1937745"/>
            <a:ext cx="9144000" cy="2387600"/>
          </a:xfrm>
        </p:spPr>
        <p:txBody>
          <a:bodyPr>
            <a:normAutofit fontScale="90000"/>
          </a:bodyPr>
          <a:lstStyle/>
          <a:p>
            <a:r>
              <a:rPr lang="en-GB" dirty="0"/>
              <a:t>Splicing analysis: switching from </a:t>
            </a:r>
            <a:r>
              <a:rPr lang="en-GB" dirty="0" err="1"/>
              <a:t>Salmon+SUPPA</a:t>
            </a:r>
            <a:r>
              <a:rPr lang="en-GB" dirty="0"/>
              <a:t> to </a:t>
            </a:r>
            <a:r>
              <a:rPr lang="en-GB" dirty="0" err="1"/>
              <a:t>STAR+rMATS</a:t>
            </a:r>
            <a:endParaRPr lang="en-FR" dirty="0"/>
          </a:p>
        </p:txBody>
      </p:sp>
      <p:sp>
        <p:nvSpPr>
          <p:cNvPr id="3" name="TextBox 2">
            <a:extLst>
              <a:ext uri="{FF2B5EF4-FFF2-40B4-BE49-F238E27FC236}">
                <a16:creationId xmlns:a16="http://schemas.microsoft.com/office/drawing/2014/main" id="{0F99C265-9220-D0EC-2690-55C5EE1DAF7F}"/>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NEW pipeline</a:t>
            </a:r>
          </a:p>
        </p:txBody>
      </p:sp>
    </p:spTree>
    <p:extLst>
      <p:ext uri="{BB962C8B-B14F-4D97-AF65-F5344CB8AC3E}">
        <p14:creationId xmlns:p14="http://schemas.microsoft.com/office/powerpoint/2010/main" val="3830249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92509A-48AF-062D-7216-CB4D1F3B79D5}"/>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NEW pipeline</a:t>
            </a:r>
          </a:p>
        </p:txBody>
      </p:sp>
      <p:pic>
        <p:nvPicPr>
          <p:cNvPr id="8" name="Graphic 7">
            <a:extLst>
              <a:ext uri="{FF2B5EF4-FFF2-40B4-BE49-F238E27FC236}">
                <a16:creationId xmlns:a16="http://schemas.microsoft.com/office/drawing/2014/main" id="{19ADD5AB-E1EB-5B8A-3485-37B6580F5F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0" y="252487"/>
            <a:ext cx="5929005" cy="4395319"/>
          </a:xfrm>
          <a:prstGeom prst="rect">
            <a:avLst/>
          </a:prstGeom>
        </p:spPr>
      </p:pic>
      <p:pic>
        <p:nvPicPr>
          <p:cNvPr id="10" name="Graphic 9">
            <a:extLst>
              <a:ext uri="{FF2B5EF4-FFF2-40B4-BE49-F238E27FC236}">
                <a16:creationId xmlns:a16="http://schemas.microsoft.com/office/drawing/2014/main" id="{685816B3-8190-0139-FCE0-E8541E75A1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9580" y="506856"/>
            <a:ext cx="5222903" cy="3933917"/>
          </a:xfrm>
          <a:prstGeom prst="rect">
            <a:avLst/>
          </a:prstGeom>
        </p:spPr>
      </p:pic>
      <p:sp>
        <p:nvSpPr>
          <p:cNvPr id="11" name="TextBox 10">
            <a:extLst>
              <a:ext uri="{FF2B5EF4-FFF2-40B4-BE49-F238E27FC236}">
                <a16:creationId xmlns:a16="http://schemas.microsoft.com/office/drawing/2014/main" id="{811B884F-80A2-1645-CA8D-DC95BF6A239F}"/>
              </a:ext>
            </a:extLst>
          </p:cNvPr>
          <p:cNvSpPr txBox="1"/>
          <p:nvPr/>
        </p:nvSpPr>
        <p:spPr>
          <a:xfrm>
            <a:off x="1" y="5137355"/>
            <a:ext cx="5910146"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splicing (</a:t>
            </a:r>
            <a:r>
              <a:rPr lang="en-GB" sz="1200" dirty="0" err="1">
                <a:latin typeface="Arial" panose="020B0604020202020204" pitchFamily="34" charset="0"/>
                <a:cs typeface="Arial" panose="020B0604020202020204" pitchFamily="34" charset="0"/>
              </a:rPr>
              <a:t>rMATS</a:t>
            </a:r>
            <a:r>
              <a:rPr lang="en-GB" sz="1200" dirty="0">
                <a:latin typeface="Arial" panose="020B0604020202020204" pitchFamily="34" charset="0"/>
                <a:cs typeface="Arial" panose="020B0604020202020204" pitchFamily="34" charset="0"/>
              </a:rPr>
              <a:t>-turbo, junction-spanning reads counted</a:t>
            </a:r>
          </a:p>
          <a:p>
            <a:pPr algn="just"/>
            <a:r>
              <a:rPr lang="en-GB" sz="1200" dirty="0">
                <a:latin typeface="Arial" panose="020B0604020202020204" pitchFamily="34" charset="0"/>
                <a:cs typeface="Arial" panose="020B0604020202020204" pitchFamily="34" charset="0"/>
              </a:rPr>
              <a:t>directly from the STAR alignments) between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and WT liver. Each point is one</a:t>
            </a:r>
          </a:p>
          <a:p>
            <a:pPr algn="just"/>
            <a:r>
              <a:rPr lang="en-GB" sz="1200" dirty="0">
                <a:latin typeface="Arial" panose="020B0604020202020204" pitchFamily="34" charset="0"/>
                <a:cs typeface="Arial" panose="020B0604020202020204" pitchFamily="34" charset="0"/>
              </a:rPr>
              <a:t>alternative splicing event. X-axis: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(percent-spliced-in difference,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minus WT). Y-axis: -log10(FDR). Dashed lines mark the significance thresholds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FDR &lt; 0.05), the stricter, multiple-testing-corrected threshold. Grey, not significant. Significant events (n = 8) are </a:t>
            </a:r>
            <a:r>
              <a:rPr lang="en-GB" sz="1200" dirty="0" err="1">
                <a:latin typeface="Arial" panose="020B0604020202020204" pitchFamily="34" charset="0"/>
                <a:cs typeface="Arial" panose="020B0604020202020204" pitchFamily="34" charset="0"/>
              </a:rPr>
              <a:t>colored</a:t>
            </a:r>
            <a:r>
              <a:rPr lang="en-GB" sz="1200" dirty="0">
                <a:latin typeface="Arial" panose="020B0604020202020204" pitchFamily="34" charset="0"/>
                <a:cs typeface="Arial" panose="020B0604020202020204" pitchFamily="34" charset="0"/>
              </a:rPr>
              <a:t> by event type: MX, mutually exclusive exons (dark blue, n = 4); SE, exon skipping (magenta, n = 3); A3, alternative 3' splice site (amber, n = 1). No A5 or RI events reach this threshold. </a:t>
            </a:r>
            <a:r>
              <a:rPr lang="en-GB" sz="1200" dirty="0" err="1">
                <a:latin typeface="Arial" panose="020B0604020202020204" pitchFamily="34" charset="0"/>
                <a:cs typeface="Arial" panose="020B0604020202020204" pitchFamily="34" charset="0"/>
              </a:rPr>
              <a:t>rMATS</a:t>
            </a:r>
            <a:r>
              <a:rPr lang="en-GB" sz="1200" dirty="0">
                <a:latin typeface="Arial" panose="020B0604020202020204" pitchFamily="34" charset="0"/>
                <a:cs typeface="Arial" panose="020B0604020202020204" pitchFamily="34" charset="0"/>
              </a:rPr>
              <a:t> does not call AF/AL (alternative first/last exon) events.</a:t>
            </a:r>
            <a:endParaRPr lang="en-FR" sz="12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88312A7-6EBB-7F72-D83E-A5C9347BB84C}"/>
              </a:ext>
            </a:extLst>
          </p:cNvPr>
          <p:cNvSpPr txBox="1"/>
          <p:nvPr/>
        </p:nvSpPr>
        <p:spPr>
          <a:xfrm>
            <a:off x="-1" y="4759746"/>
            <a:ext cx="5372483"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1. Alternative splicing, </a:t>
            </a:r>
            <a:r>
              <a:rPr lang="en-GB" sz="1400" b="1" dirty="0" err="1">
                <a:latin typeface="Arial" panose="020B0604020202020204" pitchFamily="34" charset="0"/>
                <a:cs typeface="Arial" panose="020B0604020202020204" pitchFamily="34" charset="0"/>
              </a:rPr>
              <a:t>PerDKO</a:t>
            </a:r>
            <a:r>
              <a:rPr lang="en-GB" sz="1400" b="1" dirty="0">
                <a:latin typeface="Arial" panose="020B0604020202020204" pitchFamily="34" charset="0"/>
                <a:cs typeface="Arial" panose="020B0604020202020204" pitchFamily="34" charset="0"/>
              </a:rPr>
              <a:t> vs WT, FDR &lt; 0.05</a:t>
            </a:r>
            <a:endParaRPr lang="en-FR" sz="1400" b="1"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4115B67-AEE8-62C3-D433-AE82E1F31D55}"/>
              </a:ext>
            </a:extLst>
          </p:cNvPr>
          <p:cNvSpPr txBox="1"/>
          <p:nvPr/>
        </p:nvSpPr>
        <p:spPr>
          <a:xfrm>
            <a:off x="6167091" y="5103674"/>
            <a:ext cx="6024909"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Same data and event-type </a:t>
            </a:r>
            <a:r>
              <a:rPr lang="en-GB" sz="1200" dirty="0" err="1">
                <a:latin typeface="Arial" panose="020B0604020202020204" pitchFamily="34" charset="0"/>
                <a:cs typeface="Arial" panose="020B0604020202020204" pitchFamily="34" charset="0"/>
              </a:rPr>
              <a:t>colors</a:t>
            </a:r>
            <a:r>
              <a:rPr lang="en-GB" sz="1200" dirty="0">
                <a:latin typeface="Arial" panose="020B0604020202020204" pitchFamily="34" charset="0"/>
                <a:cs typeface="Arial" panose="020B0604020202020204" pitchFamily="34" charset="0"/>
              </a:rPr>
              <a:t> as Figure 1, using the raw, uncorrected p-value threshold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p &lt; 0.3) in place of the FDR </a:t>
            </a:r>
            <a:r>
              <a:rPr lang="en-GB" sz="1200" dirty="0" err="1">
                <a:latin typeface="Arial" panose="020B0604020202020204" pitchFamily="34" charset="0"/>
                <a:cs typeface="Arial" panose="020B0604020202020204" pitchFamily="34" charset="0"/>
              </a:rPr>
              <a:t>cutoff</a:t>
            </a:r>
            <a:r>
              <a:rPr lang="en-GB" sz="1200" dirty="0">
                <a:latin typeface="Arial" panose="020B0604020202020204" pitchFamily="34" charset="0"/>
                <a:cs typeface="Arial" panose="020B0604020202020204" pitchFamily="34" charset="0"/>
              </a:rPr>
              <a:t>. This threshold matches the one previously used for this dataset's Salmon+SUPPA2 splicing analysis, included here for direct comparison. Significant events (n = 43): MX (dark blue, n = 18); SE (magenta,</a:t>
            </a:r>
          </a:p>
          <a:p>
            <a:pPr algn="just"/>
            <a:r>
              <a:rPr lang="en-GB" sz="1200" dirty="0">
                <a:latin typeface="Arial" panose="020B0604020202020204" pitchFamily="34" charset="0"/>
                <a:cs typeface="Arial" panose="020B0604020202020204" pitchFamily="34" charset="0"/>
              </a:rPr>
              <a:t>n = 11); A3 (amber, n = 7); RI, retained intron (orange-red, n = 6); A5, alternative 5’ splice site (light blue, n = 1). Of the annotated candidate events, only 1.9-17.4% (varying by event type) had sufficient junction-spanning read coverage to be testable at all, a consequence of MARS-</a:t>
            </a:r>
            <a:r>
              <a:rPr lang="en-GB" sz="1200" dirty="0" err="1">
                <a:latin typeface="Arial" panose="020B0604020202020204" pitchFamily="34" charset="0"/>
                <a:cs typeface="Arial" panose="020B0604020202020204" pitchFamily="34" charset="0"/>
              </a:rPr>
              <a:t>seq's</a:t>
            </a:r>
            <a:r>
              <a:rPr lang="en-GB" sz="1200" dirty="0">
                <a:latin typeface="Arial" panose="020B0604020202020204" pitchFamily="34" charset="0"/>
                <a:cs typeface="Arial" panose="020B0604020202020204" pitchFamily="34" charset="0"/>
              </a:rPr>
              <a:t> 3'-end sequencing bias.</a:t>
            </a:r>
            <a:endParaRPr lang="en-FR" sz="12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76360167-8CF2-099D-87FA-3D5E03D724B3}"/>
              </a:ext>
            </a:extLst>
          </p:cNvPr>
          <p:cNvSpPr txBox="1"/>
          <p:nvPr/>
        </p:nvSpPr>
        <p:spPr>
          <a:xfrm>
            <a:off x="6167091" y="4721851"/>
            <a:ext cx="5372483"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2. Alternative splicing, </a:t>
            </a:r>
            <a:r>
              <a:rPr lang="en-GB" sz="1400" b="1" dirty="0" err="1">
                <a:latin typeface="Arial" panose="020B0604020202020204" pitchFamily="34" charset="0"/>
                <a:cs typeface="Arial" panose="020B0604020202020204" pitchFamily="34" charset="0"/>
              </a:rPr>
              <a:t>PerDKO</a:t>
            </a:r>
            <a:r>
              <a:rPr lang="en-GB" sz="1400" b="1" dirty="0">
                <a:latin typeface="Arial" panose="020B0604020202020204" pitchFamily="34" charset="0"/>
                <a:cs typeface="Arial" panose="020B0604020202020204" pitchFamily="34" charset="0"/>
              </a:rPr>
              <a:t> vs WT, p &lt; 0.3</a:t>
            </a:r>
            <a:endParaRPr lang="en-FR"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755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595F656-2071-412A-A7A7-1635945358BD}"/>
              </a:ext>
            </a:extLst>
          </p:cNvPr>
          <p:cNvSpPr txBox="1"/>
          <p:nvPr/>
        </p:nvSpPr>
        <p:spPr>
          <a:xfrm>
            <a:off x="5810933" y="0"/>
            <a:ext cx="6357485" cy="769441"/>
          </a:xfrm>
          <a:prstGeom prst="rect">
            <a:avLst/>
          </a:prstGeom>
          <a:noFill/>
        </p:spPr>
        <p:txBody>
          <a:bodyPr wrap="square" rtlCol="0">
            <a:spAutoFit/>
          </a:bodyPr>
          <a:lstStyle/>
          <a:p>
            <a:r>
              <a:rPr lang="en-GB" sz="1100" i="1" dirty="0">
                <a:solidFill>
                  <a:srgbClr val="FF33BA"/>
                </a:solidFill>
                <a:latin typeface="Arial" panose="020B0604020202020204" pitchFamily="34" charset="0"/>
                <a:cs typeface="Arial" panose="020B0604020202020204" pitchFamily="34" charset="0"/>
              </a:rPr>
              <a:t>Concordance with Nanopore: 16 overlapping genes, 12 same direction, 4 opposite.</a:t>
            </a:r>
          </a:p>
          <a:p>
            <a:r>
              <a:rPr lang="en-GB" sz="1100" i="1" dirty="0">
                <a:solidFill>
                  <a:srgbClr val="FF33BA"/>
                </a:solidFill>
                <a:latin typeface="Arial" panose="020B0604020202020204" pitchFamily="34" charset="0"/>
                <a:cs typeface="Arial" panose="020B0604020202020204" pitchFamily="34" charset="0"/>
              </a:rPr>
              <a:t>Old Salmon-based version had 27 overlapping genes. The drop to 16 lines up with what we already suspected, Salmon's inflated spread was likely pushing some genes over the significance threshold artificially. The tighter </a:t>
            </a:r>
            <a:r>
              <a:rPr lang="en-GB" sz="1100" i="1" dirty="0" err="1">
                <a:solidFill>
                  <a:srgbClr val="FF33BA"/>
                </a:solidFill>
                <a:latin typeface="Arial" panose="020B0604020202020204" pitchFamily="34" charset="0"/>
                <a:cs typeface="Arial" panose="020B0604020202020204" pitchFamily="34" charset="0"/>
              </a:rPr>
              <a:t>STAR+htseq</a:t>
            </a:r>
            <a:r>
              <a:rPr lang="en-GB" sz="1100" i="1" dirty="0">
                <a:solidFill>
                  <a:srgbClr val="FF33BA"/>
                </a:solidFill>
                <a:latin typeface="Arial" panose="020B0604020202020204" pitchFamily="34" charset="0"/>
                <a:cs typeface="Arial" panose="020B0604020202020204" pitchFamily="34" charset="0"/>
              </a:rPr>
              <a:t> range gives a smaller but more trustworthy overlap.</a:t>
            </a:r>
            <a:endParaRPr lang="en-FR" sz="1100" i="1" dirty="0">
              <a:solidFill>
                <a:srgbClr val="FF33B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0D49265-2D88-5B0B-1CB9-1384FE550CE4}"/>
              </a:ext>
            </a:extLst>
          </p:cNvPr>
          <p:cNvSpPr txBox="1"/>
          <p:nvPr/>
        </p:nvSpPr>
        <p:spPr>
          <a:xfrm>
            <a:off x="0" y="14757"/>
            <a:ext cx="1626781" cy="369332"/>
          </a:xfrm>
          <a:prstGeom prst="rect">
            <a:avLst/>
          </a:prstGeom>
          <a:noFill/>
        </p:spPr>
        <p:txBody>
          <a:bodyPr wrap="square" rtlCol="0">
            <a:spAutoFit/>
          </a:bodyPr>
          <a:lstStyle/>
          <a:p>
            <a:r>
              <a:rPr lang="en-FR" dirty="0">
                <a:highlight>
                  <a:srgbClr val="FFFF00"/>
                </a:highlight>
              </a:rPr>
              <a:t>NEW pipeline</a:t>
            </a:r>
          </a:p>
        </p:txBody>
      </p:sp>
      <p:pic>
        <p:nvPicPr>
          <p:cNvPr id="11" name="Graphic 10">
            <a:extLst>
              <a:ext uri="{FF2B5EF4-FFF2-40B4-BE49-F238E27FC236}">
                <a16:creationId xmlns:a16="http://schemas.microsoft.com/office/drawing/2014/main" id="{1E0342FB-D16D-47EF-C15E-4D9191188A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3746" y="875248"/>
            <a:ext cx="6014333" cy="3896610"/>
          </a:xfrm>
          <a:prstGeom prst="rect">
            <a:avLst/>
          </a:prstGeom>
        </p:spPr>
      </p:pic>
      <p:pic>
        <p:nvPicPr>
          <p:cNvPr id="15" name="Graphic 14">
            <a:extLst>
              <a:ext uri="{FF2B5EF4-FFF2-40B4-BE49-F238E27FC236}">
                <a16:creationId xmlns:a16="http://schemas.microsoft.com/office/drawing/2014/main" id="{972E561B-EDF6-D8BB-4F1C-5B0DB1EE7E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74" y="875248"/>
            <a:ext cx="6074672" cy="3752003"/>
          </a:xfrm>
          <a:prstGeom prst="rect">
            <a:avLst/>
          </a:prstGeom>
        </p:spPr>
      </p:pic>
      <p:sp>
        <p:nvSpPr>
          <p:cNvPr id="16" name="TextBox 15">
            <a:extLst>
              <a:ext uri="{FF2B5EF4-FFF2-40B4-BE49-F238E27FC236}">
                <a16:creationId xmlns:a16="http://schemas.microsoft.com/office/drawing/2014/main" id="{D5FD8E7C-8AC6-1E29-A9FE-1E07B234C809}"/>
              </a:ext>
            </a:extLst>
          </p:cNvPr>
          <p:cNvSpPr txBox="1"/>
          <p:nvPr/>
        </p:nvSpPr>
        <p:spPr>
          <a:xfrm>
            <a:off x="19074" y="5088917"/>
            <a:ext cx="6405176" cy="1569660"/>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expression between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and WT liver, gene-level DESeq2</a:t>
            </a:r>
          </a:p>
          <a:p>
            <a:pPr algn="just"/>
            <a:r>
              <a:rPr lang="en-GB" sz="1200" dirty="0">
                <a:latin typeface="Arial" panose="020B0604020202020204" pitchFamily="34" charset="0"/>
                <a:cs typeface="Arial" panose="020B0604020202020204" pitchFamily="34" charset="0"/>
              </a:rPr>
              <a:t>analysis (Wald test, single contrast; </a:t>
            </a:r>
            <a:r>
              <a:rPr lang="en-GB" sz="1200" dirty="0" err="1">
                <a:latin typeface="Arial" panose="020B0604020202020204" pitchFamily="34" charset="0"/>
                <a:cs typeface="Arial" panose="020B0604020202020204" pitchFamily="34" charset="0"/>
              </a:rPr>
              <a:t>htseq</a:t>
            </a:r>
            <a:r>
              <a:rPr lang="en-GB" sz="1200" dirty="0">
                <a:latin typeface="Arial" panose="020B0604020202020204" pitchFamily="34" charset="0"/>
                <a:cs typeface="Arial" panose="020B0604020202020204" pitchFamily="34" charset="0"/>
              </a:rPr>
              <a:t>-count is gene-level only, no transcript</a:t>
            </a:r>
          </a:p>
          <a:p>
            <a:pPr algn="just"/>
            <a:r>
              <a:rPr lang="en-GB" sz="1200" dirty="0">
                <a:latin typeface="Arial" panose="020B0604020202020204" pitchFamily="34" charset="0"/>
                <a:cs typeface="Arial" panose="020B0604020202020204" pitchFamily="34" charset="0"/>
              </a:rPr>
              <a:t>resolution). Each point is one gene. X-axis: log2 fold change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 WT). Y-axis:</a:t>
            </a:r>
          </a:p>
          <a:p>
            <a:pPr algn="just"/>
            <a:r>
              <a:rPr lang="en-GB" sz="1200" dirty="0">
                <a:latin typeface="Arial" panose="020B0604020202020204" pitchFamily="34" charset="0"/>
                <a:cs typeface="Arial" panose="020B0604020202020204" pitchFamily="34" charset="0"/>
              </a:rPr>
              <a:t>-log10(adjusted p-value). Dashed lines mark the significance thresholds (|log2FC| &gt; 0.5,</a:t>
            </a:r>
          </a:p>
          <a:p>
            <a:pPr algn="just"/>
            <a:r>
              <a:rPr lang="en-GB" sz="1200" dirty="0" err="1">
                <a:latin typeface="Arial" panose="020B0604020202020204" pitchFamily="34" charset="0"/>
                <a:cs typeface="Arial" panose="020B0604020202020204" pitchFamily="34" charset="0"/>
              </a:rPr>
              <a:t>padj</a:t>
            </a:r>
            <a:r>
              <a:rPr lang="en-GB" sz="1200" dirty="0">
                <a:latin typeface="Arial" panose="020B0604020202020204" pitchFamily="34" charset="0"/>
                <a:cs typeface="Arial" panose="020B0604020202020204" pitchFamily="34" charset="0"/>
              </a:rPr>
              <a:t> &lt; 0.05). Orange, significantly upregulated in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(n = 238); blue, significantly</a:t>
            </a:r>
          </a:p>
          <a:p>
            <a:pPr algn="just"/>
            <a:r>
              <a:rPr lang="en-GB" sz="1200" dirty="0">
                <a:latin typeface="Arial" panose="020B0604020202020204" pitchFamily="34" charset="0"/>
                <a:cs typeface="Arial" panose="020B0604020202020204" pitchFamily="34" charset="0"/>
              </a:rPr>
              <a:t>downregulated (n = 152); grey, not significant. 15,967 genes were tested (genes with fewer</a:t>
            </a:r>
          </a:p>
          <a:p>
            <a:pPr algn="just"/>
            <a:r>
              <a:rPr lang="en-GB" sz="1200" dirty="0">
                <a:latin typeface="Arial" panose="020B0604020202020204" pitchFamily="34" charset="0"/>
                <a:cs typeface="Arial" panose="020B0604020202020204" pitchFamily="34" charset="0"/>
              </a:rPr>
              <a:t>than 10 total reads across all 8 samples were excluded beforehand).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points are</a:t>
            </a:r>
          </a:p>
          <a:p>
            <a:pPr algn="just"/>
            <a:r>
              <a:rPr lang="en-GB" sz="1200" dirty="0">
                <a:latin typeface="Arial" panose="020B0604020202020204" pitchFamily="34" charset="0"/>
                <a:cs typeface="Arial" panose="020B0604020202020204" pitchFamily="34" charset="0"/>
              </a:rPr>
              <a:t>circadian and clock-related genes from a curated list, shown where significant.</a:t>
            </a:r>
            <a:endParaRPr lang="en-FR" sz="12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7F9BBFC-E379-81B3-8B50-4A52D29AFBE6}"/>
              </a:ext>
            </a:extLst>
          </p:cNvPr>
          <p:cNvSpPr txBox="1"/>
          <p:nvPr/>
        </p:nvSpPr>
        <p:spPr>
          <a:xfrm>
            <a:off x="19074" y="4781140"/>
            <a:ext cx="5791859"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3. Differential gene expression, </a:t>
            </a:r>
            <a:r>
              <a:rPr lang="en-GB" sz="1400" b="1" dirty="0" err="1">
                <a:latin typeface="Arial" panose="020B0604020202020204" pitchFamily="34" charset="0"/>
                <a:cs typeface="Arial" panose="020B0604020202020204" pitchFamily="34" charset="0"/>
              </a:rPr>
              <a:t>PerDKO</a:t>
            </a:r>
            <a:r>
              <a:rPr lang="en-GB" sz="1400" b="1" dirty="0">
                <a:latin typeface="Arial" panose="020B0604020202020204" pitchFamily="34" charset="0"/>
                <a:cs typeface="Arial" panose="020B0604020202020204" pitchFamily="34" charset="0"/>
              </a:rPr>
              <a:t> vs WT (gene-level)</a:t>
            </a:r>
            <a:endParaRPr lang="en-FR" sz="1400" b="1"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602A241C-AEE8-99F2-AFBF-53E00146C669}"/>
              </a:ext>
            </a:extLst>
          </p:cNvPr>
          <p:cNvSpPr txBox="1"/>
          <p:nvPr/>
        </p:nvSpPr>
        <p:spPr>
          <a:xfrm>
            <a:off x="6334180" y="5233524"/>
            <a:ext cx="5857820" cy="1384995"/>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Overlap between genes significantly differentially expressed in the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Illumina dataset and genes significantly differentially expressed in an independent Nanopore long-read dataset (same </a:t>
            </a:r>
            <a:r>
              <a:rPr lang="en-GB" sz="1200" dirty="0" err="1">
                <a:latin typeface="Arial" panose="020B0604020202020204" pitchFamily="34" charset="0"/>
                <a:cs typeface="Arial" panose="020B0604020202020204" pitchFamily="34" charset="0"/>
              </a:rPr>
              <a:t>PerDKO</a:t>
            </a:r>
            <a:r>
              <a:rPr lang="en-GB" sz="1200" dirty="0">
                <a:latin typeface="Arial" panose="020B0604020202020204" pitchFamily="34" charset="0"/>
                <a:cs typeface="Arial" panose="020B0604020202020204" pitchFamily="34" charset="0"/>
              </a:rPr>
              <a:t> vs WT liver comparison, same laboratory), gene level, both platforms </a:t>
            </a:r>
            <a:r>
              <a:rPr lang="en-GB" sz="1200" dirty="0" err="1">
                <a:latin typeface="Arial" panose="020B0604020202020204" pitchFamily="34" charset="0"/>
                <a:cs typeface="Arial" panose="020B0604020202020204" pitchFamily="34" charset="0"/>
              </a:rPr>
              <a:t>thresholded</a:t>
            </a:r>
            <a:r>
              <a:rPr lang="en-GB" sz="1200" dirty="0">
                <a:latin typeface="Arial" panose="020B0604020202020204" pitchFamily="34" charset="0"/>
                <a:cs typeface="Arial" panose="020B0604020202020204" pitchFamily="34" charset="0"/>
              </a:rPr>
              <a:t> at </a:t>
            </a:r>
            <a:r>
              <a:rPr lang="en-GB" sz="1200" dirty="0" err="1">
                <a:latin typeface="Arial" panose="020B0604020202020204" pitchFamily="34" charset="0"/>
                <a:cs typeface="Arial" panose="020B0604020202020204" pitchFamily="34" charset="0"/>
              </a:rPr>
              <a:t>padj</a:t>
            </a:r>
            <a:r>
              <a:rPr lang="en-GB" sz="1200" dirty="0">
                <a:latin typeface="Arial" panose="020B0604020202020204" pitchFamily="34" charset="0"/>
                <a:cs typeface="Arial" panose="020B0604020202020204" pitchFamily="34" charset="0"/>
              </a:rPr>
              <a:t> &lt; 0.05 and |log2FC| &gt; 1.5. 16 genes are significant in both datasets (orange,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out of 59 significant in the Illumina dataset only (blue) and 116 significant in the Nanopore dataset only (green), against a background of 9,891 genes tested in both platforms (grey).</a:t>
            </a:r>
            <a:endParaRPr lang="en-FR" sz="12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D8AF7529-746B-88E4-91E7-DB928B0F3019}"/>
              </a:ext>
            </a:extLst>
          </p:cNvPr>
          <p:cNvSpPr txBox="1"/>
          <p:nvPr/>
        </p:nvSpPr>
        <p:spPr>
          <a:xfrm>
            <a:off x="6316220" y="4731742"/>
            <a:ext cx="5791859" cy="523220"/>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4. Overlap with an independent Nanopore dataset,  differential expression (gene-level)</a:t>
            </a:r>
            <a:endParaRPr lang="en-FR"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953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0482FE5-0531-078A-9E22-33FA6B3EFE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43391" y="3720955"/>
            <a:ext cx="2950624" cy="2820926"/>
          </a:xfrm>
          <a:prstGeom prst="rect">
            <a:avLst/>
          </a:prstGeom>
        </p:spPr>
      </p:pic>
      <p:pic>
        <p:nvPicPr>
          <p:cNvPr id="6" name="Graphic 5">
            <a:extLst>
              <a:ext uri="{FF2B5EF4-FFF2-40B4-BE49-F238E27FC236}">
                <a16:creationId xmlns:a16="http://schemas.microsoft.com/office/drawing/2014/main" id="{BE94C76E-0CBA-1328-C94B-68C13E6C5C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5365" y="3897400"/>
            <a:ext cx="2838065" cy="2504807"/>
          </a:xfrm>
          <a:prstGeom prst="rect">
            <a:avLst/>
          </a:prstGeom>
        </p:spPr>
      </p:pic>
      <p:pic>
        <p:nvPicPr>
          <p:cNvPr id="10" name="Graphic 9">
            <a:extLst>
              <a:ext uri="{FF2B5EF4-FFF2-40B4-BE49-F238E27FC236}">
                <a16:creationId xmlns:a16="http://schemas.microsoft.com/office/drawing/2014/main" id="{C9D8098A-1C76-AB07-A63E-22B429A5DF5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48345" y="293477"/>
            <a:ext cx="2655677" cy="2667124"/>
          </a:xfrm>
          <a:prstGeom prst="rect">
            <a:avLst/>
          </a:prstGeom>
        </p:spPr>
      </p:pic>
      <p:pic>
        <p:nvPicPr>
          <p:cNvPr id="12" name="Graphic 11">
            <a:extLst>
              <a:ext uri="{FF2B5EF4-FFF2-40B4-BE49-F238E27FC236}">
                <a16:creationId xmlns:a16="http://schemas.microsoft.com/office/drawing/2014/main" id="{803ECDC7-94CA-E237-9194-0A4386FD34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6560" y="293477"/>
            <a:ext cx="2655677" cy="2667124"/>
          </a:xfrm>
          <a:prstGeom prst="rect">
            <a:avLst/>
          </a:prstGeom>
        </p:spPr>
      </p:pic>
      <p:sp>
        <p:nvSpPr>
          <p:cNvPr id="13" name="Title 1">
            <a:extLst>
              <a:ext uri="{FF2B5EF4-FFF2-40B4-BE49-F238E27FC236}">
                <a16:creationId xmlns:a16="http://schemas.microsoft.com/office/drawing/2014/main" id="{68CA7EA4-629D-AE17-43E4-2DC0B9297974}"/>
              </a:ext>
            </a:extLst>
          </p:cNvPr>
          <p:cNvSpPr txBox="1">
            <a:spLocks/>
          </p:cNvSpPr>
          <p:nvPr/>
        </p:nvSpPr>
        <p:spPr>
          <a:xfrm>
            <a:off x="8774065" y="-185719"/>
            <a:ext cx="341793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highlight>
                  <a:srgbClr val="FFFF00"/>
                </a:highlight>
              </a:rPr>
              <a:t>Small version</a:t>
            </a:r>
            <a:endParaRPr lang="en-FR" dirty="0">
              <a:highlight>
                <a:srgbClr val="FFFF00"/>
              </a:highlight>
            </a:endParaRPr>
          </a:p>
        </p:txBody>
      </p:sp>
    </p:spTree>
    <p:extLst>
      <p:ext uri="{BB962C8B-B14F-4D97-AF65-F5344CB8AC3E}">
        <p14:creationId xmlns:p14="http://schemas.microsoft.com/office/powerpoint/2010/main" val="1953897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C0E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A3285-9706-A0B1-D913-4C305D38B040}"/>
              </a:ext>
            </a:extLst>
          </p:cNvPr>
          <p:cNvSpPr>
            <a:spLocks noGrp="1"/>
          </p:cNvSpPr>
          <p:nvPr>
            <p:ph type="ctrTitle"/>
          </p:nvPr>
        </p:nvSpPr>
        <p:spPr>
          <a:xfrm>
            <a:off x="1524000" y="1315548"/>
            <a:ext cx="9144000" cy="2387600"/>
          </a:xfrm>
        </p:spPr>
        <p:txBody>
          <a:bodyPr>
            <a:normAutofit/>
          </a:bodyPr>
          <a:lstStyle/>
          <a:p>
            <a:r>
              <a:rPr lang="en-FR" dirty="0"/>
              <a:t>GSE133398 – Nick Webster SRSF3 Illumina x Nanopore</a:t>
            </a:r>
          </a:p>
        </p:txBody>
      </p:sp>
      <p:sp>
        <p:nvSpPr>
          <p:cNvPr id="3" name="Subtitle 2">
            <a:extLst>
              <a:ext uri="{FF2B5EF4-FFF2-40B4-BE49-F238E27FC236}">
                <a16:creationId xmlns:a16="http://schemas.microsoft.com/office/drawing/2014/main" id="{E73EF510-A053-768F-5941-6537489834EE}"/>
              </a:ext>
            </a:extLst>
          </p:cNvPr>
          <p:cNvSpPr>
            <a:spLocks noGrp="1"/>
          </p:cNvSpPr>
          <p:nvPr>
            <p:ph type="subTitle" idx="1"/>
          </p:nvPr>
        </p:nvSpPr>
        <p:spPr>
          <a:xfrm>
            <a:off x="1524000" y="3795223"/>
            <a:ext cx="9144000" cy="1655762"/>
          </a:xfrm>
        </p:spPr>
        <p:txBody>
          <a:bodyPr/>
          <a:lstStyle/>
          <a:p>
            <a:r>
              <a:rPr lang="en-FR" dirty="0"/>
              <a:t>29/06/2026 to 14/07/2026</a:t>
            </a:r>
          </a:p>
        </p:txBody>
      </p:sp>
    </p:spTree>
    <p:extLst>
      <p:ext uri="{BB962C8B-B14F-4D97-AF65-F5344CB8AC3E}">
        <p14:creationId xmlns:p14="http://schemas.microsoft.com/office/powerpoint/2010/main" val="618113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44D52-9001-4C04-27E9-F44B8273AF65}"/>
              </a:ext>
            </a:extLst>
          </p:cNvPr>
          <p:cNvSpPr>
            <a:spLocks noGrp="1"/>
          </p:cNvSpPr>
          <p:nvPr>
            <p:ph type="title"/>
          </p:nvPr>
        </p:nvSpPr>
        <p:spPr/>
        <p:txBody>
          <a:bodyPr/>
          <a:lstStyle/>
          <a:p>
            <a:r>
              <a:rPr lang="en-FR" dirty="0"/>
              <a:t>Details</a:t>
            </a:r>
          </a:p>
        </p:txBody>
      </p:sp>
      <p:sp>
        <p:nvSpPr>
          <p:cNvPr id="3" name="Content Placeholder 2">
            <a:extLst>
              <a:ext uri="{FF2B5EF4-FFF2-40B4-BE49-F238E27FC236}">
                <a16:creationId xmlns:a16="http://schemas.microsoft.com/office/drawing/2014/main" id="{981A9C46-7A7C-8F79-14FD-52439D28E244}"/>
              </a:ext>
            </a:extLst>
          </p:cNvPr>
          <p:cNvSpPr>
            <a:spLocks noGrp="1"/>
          </p:cNvSpPr>
          <p:nvPr>
            <p:ph idx="1"/>
          </p:nvPr>
        </p:nvSpPr>
        <p:spPr/>
        <p:txBody>
          <a:bodyPr>
            <a:normAutofit/>
          </a:bodyPr>
          <a:lstStyle/>
          <a:p>
            <a:r>
              <a:rPr lang="en-GB" sz="2400" dirty="0"/>
              <a:t>Splicing threshold updated to p&lt;0.05 (was p&lt;0.3). This drops significant splicing events from 2,431 to 84 across all 7 event types (SE=30, AF=18, RI=12, A5=11, A3=8, MX=4, AL=1).</a:t>
            </a:r>
          </a:p>
          <a:p>
            <a:r>
              <a:rPr lang="en-GB" sz="2400" dirty="0"/>
              <a:t>Both DE options are built, gene-level (A) and transcript-level with </a:t>
            </a:r>
            <a:r>
              <a:rPr lang="en-GB" sz="2400" dirty="0" err="1"/>
              <a:t>stageR</a:t>
            </a:r>
            <a:r>
              <a:rPr lang="en-GB" sz="2400" dirty="0"/>
              <a:t> (B):</a:t>
            </a:r>
          </a:p>
          <a:p>
            <a:pPr lvl="1"/>
            <a:r>
              <a:rPr lang="en-GB" sz="2000" dirty="0"/>
              <a:t>Option A: 1,595 significant genes (840 up, 755 down)</a:t>
            </a:r>
          </a:p>
          <a:p>
            <a:pPr lvl="1"/>
            <a:r>
              <a:rPr lang="en-GB" sz="2000" dirty="0"/>
              <a:t>Option B: 998 significant genes (stage 1), 950 significant transcripts (stage 2)</a:t>
            </a:r>
          </a:p>
          <a:p>
            <a:r>
              <a:rPr lang="en-GB" sz="2400" dirty="0"/>
              <a:t>Nanopore overlap, both options (pie charts):</a:t>
            </a:r>
          </a:p>
          <a:p>
            <a:pPr lvl="1"/>
            <a:r>
              <a:rPr lang="en-GB" sz="2000" dirty="0"/>
              <a:t>DE overlap: 37 genes (Option A) vs 19 genes (Option B)</a:t>
            </a:r>
          </a:p>
          <a:p>
            <a:pPr lvl="1"/>
            <a:r>
              <a:rPr lang="en-GB" sz="2000" dirty="0"/>
              <a:t>Splicing overlap: 3 genes (at the updated p&lt;0.05)</a:t>
            </a:r>
          </a:p>
        </p:txBody>
      </p:sp>
    </p:spTree>
    <p:extLst>
      <p:ext uri="{BB962C8B-B14F-4D97-AF65-F5344CB8AC3E}">
        <p14:creationId xmlns:p14="http://schemas.microsoft.com/office/powerpoint/2010/main" val="1096723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09A84C6-DB3C-36A0-4B24-36536DCD4379}"/>
              </a:ext>
            </a:extLst>
          </p:cNvPr>
          <p:cNvSpPr txBox="1"/>
          <p:nvPr/>
        </p:nvSpPr>
        <p:spPr>
          <a:xfrm>
            <a:off x="107136" y="4868995"/>
            <a:ext cx="4677513"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expression between SRSF3-knockout and control hepatocytes, gene-level DESeq2 analysis (transcript counts aggregated to one value per gene before testing). Each point is one gene. X-axis: log2 fold change (SRSF3-KO / control). Y-axis: -log10(adjusted p-value). Dashed lines mark the significance thresholds (|log2FC| &gt; 0.5, </a:t>
            </a:r>
            <a:r>
              <a:rPr lang="en-GB" sz="1200" dirty="0" err="1">
                <a:latin typeface="Arial" panose="020B0604020202020204" pitchFamily="34" charset="0"/>
                <a:cs typeface="Arial" panose="020B0604020202020204" pitchFamily="34" charset="0"/>
              </a:rPr>
              <a:t>padj</a:t>
            </a:r>
            <a:r>
              <a:rPr lang="en-GB" sz="1200" dirty="0">
                <a:latin typeface="Arial" panose="020B0604020202020204" pitchFamily="34" charset="0"/>
                <a:cs typeface="Arial" panose="020B0604020202020204" pitchFamily="34" charset="0"/>
              </a:rPr>
              <a:t> &lt; 0.05). Orange, significantly upregulated in SRSF3-KO (n = 840); blue, significantly downregulated (n = 755); grey, not significant.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points are the 15 most significant genes by adjusted p-value.</a:t>
            </a:r>
            <a:endParaRPr lang="en-FR" sz="12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EFE42A6-4839-9CAA-B912-701FAF5ED9F7}"/>
              </a:ext>
            </a:extLst>
          </p:cNvPr>
          <p:cNvSpPr txBox="1"/>
          <p:nvPr/>
        </p:nvSpPr>
        <p:spPr>
          <a:xfrm>
            <a:off x="5411972" y="4868995"/>
            <a:ext cx="6738256"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the same comparison using a transcript-level, two-stage testing approach (</a:t>
            </a:r>
            <a:r>
              <a:rPr lang="en-GB" sz="1200" dirty="0" err="1">
                <a:latin typeface="Arial" panose="020B0604020202020204" pitchFamily="34" charset="0"/>
                <a:cs typeface="Arial" panose="020B0604020202020204" pitchFamily="34" charset="0"/>
              </a:rPr>
              <a:t>stageR</a:t>
            </a:r>
            <a:r>
              <a:rPr lang="en-GB" sz="1200" dirty="0">
                <a:latin typeface="Arial" panose="020B0604020202020204" pitchFamily="34" charset="0"/>
                <a:cs typeface="Arial" panose="020B0604020202020204" pitchFamily="34" charset="0"/>
              </a:rPr>
              <a:t>): individual transcripts are tested first; a gene-level screening step then asks whether any transcript of a gene changed, followed by transcript-level confirmation within screened genes. This approach can detect isoform-specific changes that are diluted when transcript counts are summed to the gene level before testing. Axes and thresholds as in Figure 1. 998 genes significant at the screening stage; 950 individual transcripts confirmed significant. Triangles mark genes with an adjusted p-value of exactly zero (below numerical precision), plotted at a fixed ceiling above the highest measurable value rather than at their true (unplottable) height. </a:t>
            </a:r>
            <a:r>
              <a:rPr lang="en-GB" sz="1200" dirty="0" err="1">
                <a:latin typeface="Arial" panose="020B0604020202020204" pitchFamily="34" charset="0"/>
                <a:cs typeface="Arial" panose="020B0604020202020204" pitchFamily="34" charset="0"/>
              </a:rPr>
              <a:t>Labeled</a:t>
            </a:r>
            <a:r>
              <a:rPr lang="en-GB" sz="1200" dirty="0">
                <a:latin typeface="Arial" panose="020B0604020202020204" pitchFamily="34" charset="0"/>
                <a:cs typeface="Arial" panose="020B0604020202020204" pitchFamily="34" charset="0"/>
              </a:rPr>
              <a:t> points are the 6 most upregulated and 6 most downregulated significant genes by fold change.</a:t>
            </a:r>
          </a:p>
        </p:txBody>
      </p:sp>
      <p:sp>
        <p:nvSpPr>
          <p:cNvPr id="13" name="TextBox 12">
            <a:extLst>
              <a:ext uri="{FF2B5EF4-FFF2-40B4-BE49-F238E27FC236}">
                <a16:creationId xmlns:a16="http://schemas.microsoft.com/office/drawing/2014/main" id="{79FBA519-07A9-6323-F907-1359954426F2}"/>
              </a:ext>
            </a:extLst>
          </p:cNvPr>
          <p:cNvSpPr txBox="1"/>
          <p:nvPr/>
        </p:nvSpPr>
        <p:spPr>
          <a:xfrm>
            <a:off x="107136" y="4345775"/>
            <a:ext cx="5372483" cy="523220"/>
          </a:xfrm>
          <a:prstGeom prst="rect">
            <a:avLst/>
          </a:prstGeom>
          <a:noFill/>
        </p:spPr>
        <p:txBody>
          <a:bodyPr wrap="square">
            <a:spAutoFit/>
          </a:bodyPr>
          <a:lstStyle/>
          <a:p>
            <a:r>
              <a:rPr lang="en-FR" sz="1400" b="1" dirty="0">
                <a:latin typeface="Arial" panose="020B0604020202020204" pitchFamily="34" charset="0"/>
                <a:cs typeface="Arial" panose="020B0604020202020204" pitchFamily="34" charset="0"/>
              </a:rPr>
              <a:t>Figure 1. Differential gene expression, SRSF3-KO vs control (gene-level)</a:t>
            </a:r>
          </a:p>
        </p:txBody>
      </p:sp>
      <p:sp>
        <p:nvSpPr>
          <p:cNvPr id="14" name="TextBox 13">
            <a:extLst>
              <a:ext uri="{FF2B5EF4-FFF2-40B4-BE49-F238E27FC236}">
                <a16:creationId xmlns:a16="http://schemas.microsoft.com/office/drawing/2014/main" id="{45E32A4E-86AB-0ED7-3F36-B06CF41AE256}"/>
              </a:ext>
            </a:extLst>
          </p:cNvPr>
          <p:cNvSpPr txBox="1"/>
          <p:nvPr/>
        </p:nvSpPr>
        <p:spPr>
          <a:xfrm>
            <a:off x="5411972" y="4285558"/>
            <a:ext cx="5618602" cy="523220"/>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2. Differential gene expression, SRSF3-KO vs control </a:t>
            </a:r>
          </a:p>
          <a:p>
            <a:r>
              <a:rPr lang="en-GB" sz="1400" b="1" dirty="0">
                <a:latin typeface="Arial" panose="020B0604020202020204" pitchFamily="34" charset="0"/>
                <a:cs typeface="Arial" panose="020B0604020202020204" pitchFamily="34" charset="0"/>
              </a:rPr>
              <a:t>(transcript-level, two-stage)</a:t>
            </a:r>
            <a:endParaRPr lang="en-FR" sz="1400" b="1" dirty="0">
              <a:latin typeface="Arial" panose="020B0604020202020204" pitchFamily="34" charset="0"/>
              <a:cs typeface="Arial" panose="020B0604020202020204" pitchFamily="34" charset="0"/>
            </a:endParaRPr>
          </a:p>
        </p:txBody>
      </p:sp>
      <p:pic>
        <p:nvPicPr>
          <p:cNvPr id="16" name="Graphic 15">
            <a:extLst>
              <a:ext uri="{FF2B5EF4-FFF2-40B4-BE49-F238E27FC236}">
                <a16:creationId xmlns:a16="http://schemas.microsoft.com/office/drawing/2014/main" id="{76D328B3-AF46-2233-5CE1-7A4C3DE2CD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136" y="891375"/>
            <a:ext cx="3924300" cy="3454400"/>
          </a:xfrm>
          <a:prstGeom prst="rect">
            <a:avLst/>
          </a:prstGeom>
        </p:spPr>
      </p:pic>
      <p:pic>
        <p:nvPicPr>
          <p:cNvPr id="18" name="Graphic 17">
            <a:extLst>
              <a:ext uri="{FF2B5EF4-FFF2-40B4-BE49-F238E27FC236}">
                <a16:creationId xmlns:a16="http://schemas.microsoft.com/office/drawing/2014/main" id="{F96F0D16-870E-1800-9BCC-56C33C310D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11972" y="891375"/>
            <a:ext cx="3784600" cy="3454400"/>
          </a:xfrm>
          <a:prstGeom prst="rect">
            <a:avLst/>
          </a:prstGeom>
        </p:spPr>
      </p:pic>
      <p:sp>
        <p:nvSpPr>
          <p:cNvPr id="20" name="Title 19">
            <a:extLst>
              <a:ext uri="{FF2B5EF4-FFF2-40B4-BE49-F238E27FC236}">
                <a16:creationId xmlns:a16="http://schemas.microsoft.com/office/drawing/2014/main" id="{94F0DC55-A247-D0B7-4369-25FAAE5865BE}"/>
              </a:ext>
            </a:extLst>
          </p:cNvPr>
          <p:cNvSpPr>
            <a:spLocks noGrp="1"/>
          </p:cNvSpPr>
          <p:nvPr>
            <p:ph type="title"/>
          </p:nvPr>
        </p:nvSpPr>
        <p:spPr>
          <a:xfrm>
            <a:off x="81516" y="99127"/>
            <a:ext cx="11119884" cy="884146"/>
          </a:xfrm>
        </p:spPr>
        <p:txBody>
          <a:bodyPr>
            <a:normAutofit/>
          </a:bodyPr>
          <a:lstStyle/>
          <a:p>
            <a:r>
              <a:rPr lang="en-FR" sz="4400" dirty="0"/>
              <a:t>DE options, at gene-level and at transcript level</a:t>
            </a:r>
            <a:endParaRPr lang="en-FR" dirty="0"/>
          </a:p>
        </p:txBody>
      </p:sp>
      <p:sp>
        <p:nvSpPr>
          <p:cNvPr id="21" name="Title 1">
            <a:extLst>
              <a:ext uri="{FF2B5EF4-FFF2-40B4-BE49-F238E27FC236}">
                <a16:creationId xmlns:a16="http://schemas.microsoft.com/office/drawing/2014/main" id="{B3D78B9E-BFDB-EE20-9FDE-B5790FB87DAC}"/>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FR" sz="4000" dirty="0"/>
          </a:p>
        </p:txBody>
      </p:sp>
    </p:spTree>
    <p:extLst>
      <p:ext uri="{BB962C8B-B14F-4D97-AF65-F5344CB8AC3E}">
        <p14:creationId xmlns:p14="http://schemas.microsoft.com/office/powerpoint/2010/main" val="2632675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1B45AC-2B9D-1F7B-4168-C81704D531E8}"/>
              </a:ext>
            </a:extLst>
          </p:cNvPr>
          <p:cNvSpPr txBox="1"/>
          <p:nvPr/>
        </p:nvSpPr>
        <p:spPr>
          <a:xfrm>
            <a:off x="2108555" y="5177114"/>
            <a:ext cx="7974889" cy="1384995"/>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Volcano plot of differential splicing (SUPPA2, empirical method) between SRSF3-KO and control hepatocytes. </a:t>
            </a:r>
          </a:p>
          <a:p>
            <a:pPr algn="just"/>
            <a:r>
              <a:rPr lang="en-GB" sz="1200" dirty="0">
                <a:latin typeface="Arial" panose="020B0604020202020204" pitchFamily="34" charset="0"/>
                <a:cs typeface="Arial" panose="020B0604020202020204" pitchFamily="34" charset="0"/>
              </a:rPr>
              <a:t>Each point is one alternative splicing event. X-axis: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(percent-spliced-in difference, SRSF3-KO minus control). Y-axis: -log10(p-value). Dashed lines mark the significance thresholds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p &lt; 0.05). Grey, not significant. Significant events (n = 84) are </a:t>
            </a:r>
            <a:r>
              <a:rPr lang="en-GB" sz="1200" dirty="0" err="1">
                <a:latin typeface="Arial" panose="020B0604020202020204" pitchFamily="34" charset="0"/>
                <a:cs typeface="Arial" panose="020B0604020202020204" pitchFamily="34" charset="0"/>
              </a:rPr>
              <a:t>colored</a:t>
            </a:r>
            <a:r>
              <a:rPr lang="en-GB" sz="1200" dirty="0">
                <a:latin typeface="Arial" panose="020B0604020202020204" pitchFamily="34" charset="0"/>
                <a:cs typeface="Arial" panose="020B0604020202020204" pitchFamily="34" charset="0"/>
              </a:rPr>
              <a:t> by event type: SE, exon skipping (magenta, n = 30);</a:t>
            </a:r>
          </a:p>
          <a:p>
            <a:pPr algn="just"/>
            <a:r>
              <a:rPr lang="en-GB" sz="1200" dirty="0">
                <a:latin typeface="Arial" panose="020B0604020202020204" pitchFamily="34" charset="0"/>
                <a:cs typeface="Arial" panose="020B0604020202020204" pitchFamily="34" charset="0"/>
              </a:rPr>
              <a:t>AF, alternative first exon (teal, n = 18); RI, retained intron (orange-red, n = 12); A5, alternative 5' splice site (light blue, n = 11); A3, alternative 3' splice site (amber, n = 8); MX, mutually exclusive exons (dark blue, n = 4); AL, alternative last exon (yellow, n = 1).</a:t>
            </a:r>
            <a:endParaRPr lang="en-FR" sz="1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C0E6157-B687-4E14-A86D-3195A30A14D7}"/>
              </a:ext>
            </a:extLst>
          </p:cNvPr>
          <p:cNvSpPr txBox="1"/>
          <p:nvPr/>
        </p:nvSpPr>
        <p:spPr>
          <a:xfrm>
            <a:off x="2974133" y="4751421"/>
            <a:ext cx="5372483" cy="307777"/>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3. Alternative splicing, SRSF3-KO vs control</a:t>
            </a:r>
            <a:endParaRPr lang="en-FR" sz="1400" b="1"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6099791D-E6B2-178E-0BFB-453479CBF64B}"/>
              </a:ext>
            </a:extLst>
          </p:cNvPr>
          <p:cNvPicPr>
            <a:picLocks noChangeAspect="1"/>
          </p:cNvPicPr>
          <p:nvPr/>
        </p:nvPicPr>
        <p:blipFill>
          <a:blip r:embed="rId2"/>
          <a:stretch>
            <a:fillRect/>
          </a:stretch>
        </p:blipFill>
        <p:spPr>
          <a:xfrm>
            <a:off x="3077068" y="295891"/>
            <a:ext cx="5166611" cy="4363691"/>
          </a:xfrm>
          <a:prstGeom prst="rect">
            <a:avLst/>
          </a:prstGeom>
        </p:spPr>
      </p:pic>
      <p:sp>
        <p:nvSpPr>
          <p:cNvPr id="16" name="Title 19">
            <a:extLst>
              <a:ext uri="{FF2B5EF4-FFF2-40B4-BE49-F238E27FC236}">
                <a16:creationId xmlns:a16="http://schemas.microsoft.com/office/drawing/2014/main" id="{53FD58D1-84AC-4E54-8DB1-FF3E10951CFA}"/>
              </a:ext>
            </a:extLst>
          </p:cNvPr>
          <p:cNvSpPr txBox="1">
            <a:spLocks/>
          </p:cNvSpPr>
          <p:nvPr/>
        </p:nvSpPr>
        <p:spPr>
          <a:xfrm>
            <a:off x="201521" y="177975"/>
            <a:ext cx="11119884" cy="88414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FR" dirty="0"/>
              <a:t>Splicing</a:t>
            </a:r>
          </a:p>
        </p:txBody>
      </p:sp>
    </p:spTree>
    <p:extLst>
      <p:ext uri="{BB962C8B-B14F-4D97-AF65-F5344CB8AC3E}">
        <p14:creationId xmlns:p14="http://schemas.microsoft.com/office/powerpoint/2010/main" val="1582897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AB980B-C3A1-D15A-A1CD-86F155C78A12}"/>
              </a:ext>
            </a:extLst>
          </p:cNvPr>
          <p:cNvSpPr txBox="1"/>
          <p:nvPr/>
        </p:nvSpPr>
        <p:spPr>
          <a:xfrm>
            <a:off x="8282763" y="5145994"/>
            <a:ext cx="3621346" cy="1569660"/>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Overlap between genes with at least one significant splicing event in the SRSF3-KO Illumina dataset (Figure 3) and genes with at least one significant splicing event in the Nanopore dataset (same significance thresholds applied to both: |</a:t>
            </a:r>
            <a:r>
              <a:rPr lang="en-GB" sz="1200" dirty="0" err="1">
                <a:latin typeface="Arial" panose="020B0604020202020204" pitchFamily="34" charset="0"/>
                <a:cs typeface="Arial" panose="020B0604020202020204" pitchFamily="34" charset="0"/>
              </a:rPr>
              <a:t>dPSI</a:t>
            </a:r>
            <a:r>
              <a:rPr lang="en-GB" sz="1200" dirty="0">
                <a:latin typeface="Arial" panose="020B0604020202020204" pitchFamily="34" charset="0"/>
                <a:cs typeface="Arial" panose="020B0604020202020204" pitchFamily="34" charset="0"/>
              </a:rPr>
              <a:t>| &gt; 0.1, p &lt; 0.05). 3 genes overlap, out of 705 significant in the Nanopore dataset only and 71 significant in the SRSF3-KO dataset only.</a:t>
            </a:r>
          </a:p>
        </p:txBody>
      </p:sp>
      <p:sp>
        <p:nvSpPr>
          <p:cNvPr id="7" name="TextBox 6">
            <a:extLst>
              <a:ext uri="{FF2B5EF4-FFF2-40B4-BE49-F238E27FC236}">
                <a16:creationId xmlns:a16="http://schemas.microsoft.com/office/drawing/2014/main" id="{2F7A0DB9-A212-34F1-9B46-DEEF01B3F1FC}"/>
              </a:ext>
            </a:extLst>
          </p:cNvPr>
          <p:cNvSpPr txBox="1"/>
          <p:nvPr/>
        </p:nvSpPr>
        <p:spPr>
          <a:xfrm>
            <a:off x="8360809" y="4394021"/>
            <a:ext cx="3690120" cy="523220"/>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6. Overlap with an independent Nanopore dataset, alternative splicing</a:t>
            </a:r>
            <a:endParaRPr lang="en-FR" sz="14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C80074C-E51E-A874-FDD9-F53F2B642C33}"/>
              </a:ext>
            </a:extLst>
          </p:cNvPr>
          <p:cNvSpPr txBox="1"/>
          <p:nvPr/>
        </p:nvSpPr>
        <p:spPr>
          <a:xfrm>
            <a:off x="4444694" y="5145994"/>
            <a:ext cx="3196044" cy="1200329"/>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Same comparison as Figure 4, using the transcript-level, two-stage significant gene list (Figure 2) in place of the gene-level list. 19 genes overlap, out of 183 significant in the Nanopore dataset only and 979 significant in the SRSF3-KO dataset only.</a:t>
            </a:r>
          </a:p>
        </p:txBody>
      </p:sp>
      <p:sp>
        <p:nvSpPr>
          <p:cNvPr id="9" name="TextBox 8">
            <a:extLst>
              <a:ext uri="{FF2B5EF4-FFF2-40B4-BE49-F238E27FC236}">
                <a16:creationId xmlns:a16="http://schemas.microsoft.com/office/drawing/2014/main" id="{56BB7E00-42F8-6F6E-CD6A-EDA86534F8FF}"/>
              </a:ext>
            </a:extLst>
          </p:cNvPr>
          <p:cNvSpPr txBox="1"/>
          <p:nvPr/>
        </p:nvSpPr>
        <p:spPr>
          <a:xfrm>
            <a:off x="4444694" y="4394021"/>
            <a:ext cx="3302612" cy="738664"/>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5. Overlap with an independent Nanopore dataset, differential expression</a:t>
            </a:r>
            <a:endParaRPr lang="en-FR" sz="1400" b="1" dirty="0">
              <a:latin typeface="Arial" panose="020B0604020202020204" pitchFamily="34" charset="0"/>
              <a:cs typeface="Arial" panose="020B0604020202020204" pitchFamily="34" charset="0"/>
            </a:endParaRPr>
          </a:p>
        </p:txBody>
      </p:sp>
      <p:pic>
        <p:nvPicPr>
          <p:cNvPr id="13" name="Graphic 12">
            <a:extLst>
              <a:ext uri="{FF2B5EF4-FFF2-40B4-BE49-F238E27FC236}">
                <a16:creationId xmlns:a16="http://schemas.microsoft.com/office/drawing/2014/main" id="{7D9D1B0A-050A-636A-4E64-D27B0D7712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21786" y="659040"/>
            <a:ext cx="3543300" cy="3708400"/>
          </a:xfrm>
          <a:prstGeom prst="rect">
            <a:avLst/>
          </a:prstGeom>
        </p:spPr>
      </p:pic>
      <p:pic>
        <p:nvPicPr>
          <p:cNvPr id="15" name="Graphic 14">
            <a:extLst>
              <a:ext uri="{FF2B5EF4-FFF2-40B4-BE49-F238E27FC236}">
                <a16:creationId xmlns:a16="http://schemas.microsoft.com/office/drawing/2014/main" id="{F64A60A5-3315-806B-5A63-1DDC1C8D943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18000" y="685621"/>
            <a:ext cx="3556000" cy="3708400"/>
          </a:xfrm>
          <a:prstGeom prst="rect">
            <a:avLst/>
          </a:prstGeom>
        </p:spPr>
      </p:pic>
      <p:sp>
        <p:nvSpPr>
          <p:cNvPr id="16" name="TextBox 15">
            <a:extLst>
              <a:ext uri="{FF2B5EF4-FFF2-40B4-BE49-F238E27FC236}">
                <a16:creationId xmlns:a16="http://schemas.microsoft.com/office/drawing/2014/main" id="{7C4B0F9D-9D62-39B4-40CB-09E9DCEECF18}"/>
              </a:ext>
            </a:extLst>
          </p:cNvPr>
          <p:cNvSpPr txBox="1"/>
          <p:nvPr/>
        </p:nvSpPr>
        <p:spPr>
          <a:xfrm>
            <a:off x="141071" y="5106957"/>
            <a:ext cx="3768167" cy="1754326"/>
          </a:xfrm>
          <a:prstGeom prst="rect">
            <a:avLst/>
          </a:prstGeom>
          <a:noFill/>
        </p:spPr>
        <p:txBody>
          <a:bodyPr wrap="square" rtlCol="0">
            <a:spAutoFit/>
          </a:bodyPr>
          <a:lstStyle/>
          <a:p>
            <a:pPr algn="just"/>
            <a:r>
              <a:rPr lang="en-GB" sz="1200" dirty="0">
                <a:latin typeface="Arial" panose="020B0604020202020204" pitchFamily="34" charset="0"/>
                <a:cs typeface="Arial" panose="020B0604020202020204" pitchFamily="34" charset="0"/>
              </a:rPr>
              <a:t>Overlap between genes significantly differentially expressed in the SRSF3-KO Illumina dataset (gene-level analysis, Figure 1) and genes significantly differentially expressed in an independent Nanopore long-read dataset (Per1/2-DKO vs wild-type liver, same laboratory). 37 genes are significant in both datasets, out of 165 significant in the Nanopore dataset only and 1,558 significant in the SRSF3-KO dataset only.</a:t>
            </a:r>
          </a:p>
        </p:txBody>
      </p:sp>
      <p:sp>
        <p:nvSpPr>
          <p:cNvPr id="17" name="TextBox 16">
            <a:extLst>
              <a:ext uri="{FF2B5EF4-FFF2-40B4-BE49-F238E27FC236}">
                <a16:creationId xmlns:a16="http://schemas.microsoft.com/office/drawing/2014/main" id="{935751AB-27B8-8B30-CE41-0881FB443776}"/>
              </a:ext>
            </a:extLst>
          </p:cNvPr>
          <p:cNvSpPr txBox="1"/>
          <p:nvPr/>
        </p:nvSpPr>
        <p:spPr>
          <a:xfrm>
            <a:off x="123097" y="4394021"/>
            <a:ext cx="3690120" cy="738664"/>
          </a:xfrm>
          <a:prstGeom prst="rect">
            <a:avLst/>
          </a:prstGeom>
          <a:noFill/>
        </p:spPr>
        <p:txBody>
          <a:bodyPr wrap="square">
            <a:spAutoFit/>
          </a:bodyPr>
          <a:lstStyle/>
          <a:p>
            <a:r>
              <a:rPr lang="en-GB" sz="1400" b="1" dirty="0">
                <a:latin typeface="Arial" panose="020B0604020202020204" pitchFamily="34" charset="0"/>
                <a:cs typeface="Arial" panose="020B0604020202020204" pitchFamily="34" charset="0"/>
              </a:rPr>
              <a:t>Figure 4. Overlap with an independent Nanopore dataset, differential expression (gene-level)</a:t>
            </a:r>
            <a:endParaRPr lang="en-FR" sz="1400" b="1" dirty="0">
              <a:latin typeface="Arial" panose="020B0604020202020204" pitchFamily="34" charset="0"/>
              <a:cs typeface="Arial" panose="020B0604020202020204" pitchFamily="34" charset="0"/>
            </a:endParaRPr>
          </a:p>
        </p:txBody>
      </p:sp>
      <p:pic>
        <p:nvPicPr>
          <p:cNvPr id="18" name="Graphic 17">
            <a:extLst>
              <a:ext uri="{FF2B5EF4-FFF2-40B4-BE49-F238E27FC236}">
                <a16:creationId xmlns:a16="http://schemas.microsoft.com/office/drawing/2014/main" id="{8990BE17-18C8-A7F5-9862-B6ADDFC94F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3097" y="609779"/>
            <a:ext cx="3581400" cy="3708400"/>
          </a:xfrm>
          <a:prstGeom prst="rect">
            <a:avLst/>
          </a:prstGeom>
        </p:spPr>
      </p:pic>
      <p:sp>
        <p:nvSpPr>
          <p:cNvPr id="19" name="Title 19">
            <a:extLst>
              <a:ext uri="{FF2B5EF4-FFF2-40B4-BE49-F238E27FC236}">
                <a16:creationId xmlns:a16="http://schemas.microsoft.com/office/drawing/2014/main" id="{B7A43FCC-B775-CC3A-C31E-C78C3CD3DA52}"/>
              </a:ext>
            </a:extLst>
          </p:cNvPr>
          <p:cNvSpPr txBox="1">
            <a:spLocks/>
          </p:cNvSpPr>
          <p:nvPr/>
        </p:nvSpPr>
        <p:spPr>
          <a:xfrm>
            <a:off x="0" y="91440"/>
            <a:ext cx="11119884" cy="88414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FR" dirty="0"/>
              <a:t>Pie charts</a:t>
            </a:r>
          </a:p>
        </p:txBody>
      </p:sp>
    </p:spTree>
    <p:extLst>
      <p:ext uri="{BB962C8B-B14F-4D97-AF65-F5344CB8AC3E}">
        <p14:creationId xmlns:p14="http://schemas.microsoft.com/office/powerpoint/2010/main" val="1653184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2955</TotalTime>
  <Words>1724</Words>
  <Application>Microsoft Macintosh PowerPoint</Application>
  <PresentationFormat>Widescreen</PresentationFormat>
  <Paragraphs>77</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GSE130613 – Gad Asher Hypoxia 3’ MARS-seq x Nanopore</vt:lpstr>
      <vt:lpstr>Baseline — original Salmon pipeline</vt:lpstr>
      <vt:lpstr>Baseline — original Salmon pipeline</vt:lpstr>
      <vt:lpstr>Baseline — original Salmon pipeline</vt:lpstr>
      <vt:lpstr>Sanity check — GEO official counts</vt:lpstr>
      <vt:lpstr>Step 1 — 3'UTR extension (still Salmon)</vt:lpstr>
      <vt:lpstr>Step 2a — STAR + htseq-count (extended GTF)</vt:lpstr>
      <vt:lpstr>Step 2b — STAR + htseq-count (original GTF)</vt:lpstr>
      <vt:lpstr>Splicing analysis: switching from Salmon+SUPPA to STAR+rMATS</vt:lpstr>
      <vt:lpstr>PowerPoint Presentation</vt:lpstr>
      <vt:lpstr>PowerPoint Presentation</vt:lpstr>
      <vt:lpstr>PowerPoint Presentation</vt:lpstr>
      <vt:lpstr>GSE133398 – Nick Webster SRSF3 Illumina x Nanopore</vt:lpstr>
      <vt:lpstr>Details</vt:lpstr>
      <vt:lpstr>DE options, at gene-level and at transcript level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GSE130613 – Gad Asher Ilumina MARS-seq x Nanopore</dc:title>
  <dc:creator>Gricey</dc:creator>
  <cp:lastModifiedBy>Gricey</cp:lastModifiedBy>
  <cp:revision>15</cp:revision>
  <dcterms:created xsi:type="dcterms:W3CDTF">2026-07-19T08:06:37Z</dcterms:created>
  <dcterms:modified xsi:type="dcterms:W3CDTF">2026-07-22T14:12:39Z</dcterms:modified>
</cp:coreProperties>
</file>